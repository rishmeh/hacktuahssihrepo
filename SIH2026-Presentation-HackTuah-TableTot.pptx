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howSpecialPlsOnTitleSld="0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type="screen16x9" cy="6858000" cx="12192000"/>
  <p:notesSz cx="6858000" cy="9144000"/>
  <p:embeddedFontLst>
    <p:embeddedFont>
      <p:font typeface="Garamond" panose="02020404030301010803" pitchFamily="18" charset="0"/>
      <p:regular r:id="rId12"/>
      <p:bold r:id="rId13"/>
      <p:italic r:id="rId14"/>
      <p:boldItalic r:id="rId15"/>
    </p:embeddedFont>
    <p:embeddedFont>
      <p:font typeface="Oswald" panose="00000500000000000000" pitchFamily="2" charset="0"/>
      <p:regular r:id="rId16"/>
      <p:bold r:id="rId17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3350" y="-8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916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917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918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 marR="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919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920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cap="none" sz="12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592" name="Google Shape;86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96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48631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632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Google Shape;108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4872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73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Google Shape;120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48813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814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cap="none" sz="1200" i="0" lang="en-US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b="0" cap="none" sz="1200" i="0" strike="noStrike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Google Shape;132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48845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846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cap="none" sz="1200" i="0" lang="en-US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b="0" cap="none" sz="1200" i="0" strike="noStrike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4" name="Google Shape;144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4886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86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cap="none" sz="1200" i="0" lang="en-US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b="0" cap="none" sz="1200" i="0" strike="noStrike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23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 lvl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 lvl="2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583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27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4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595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6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7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50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cap="none" sz="40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8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889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0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1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5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3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06400" lvl="0" marL="45720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894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06400" lvl="0" marL="45720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895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6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7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52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8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9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900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810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901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902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81000" lvl="0" marL="4572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903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4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5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46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68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69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0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53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7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8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54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31800" lvl="0" marL="45720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algn="l" indent="-381000" lvl="2" marL="13716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algn="l" indent="-355600" lvl="4" marL="22860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algn="l" indent="-355600" lvl="5" marL="2743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91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91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48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/>
          <a:noFill/>
          <a:ln>
            <a:noFill/>
          </a:ln>
        </p:spPr>
        <p:txBody>
          <a:bodyPr/>
          <a:p/>
        </p:txBody>
      </p:sp>
      <p:sp>
        <p:nvSpPr>
          <p:cNvPr id="104887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87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49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3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884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5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86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47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2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873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4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75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ctr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ctr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ctr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ctr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ctr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ctr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ctr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ctr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4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48577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31800" lvl="0" marL="457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cap="none" sz="32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l" indent="-406400" lvl="1" marL="914400" marR="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cap="none" sz="28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l" indent="-381000" lvl="2" marL="1371600" marR="0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l" indent="-355600" lvl="3" marL="18288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cap="none" sz="20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l" indent="-355600" lvl="4" marL="22860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cap="none" sz="2000" i="0" strike="noStrike" u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l" indent="-355600" lvl="5" marL="27432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55600" lvl="6" marL="32004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55600" lvl="7" marL="36576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55600" lvl="8" marL="4114800" marR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cap="none" sz="1200" i="0" strike="noStrike" u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hyperlink" Target="https://pomodorotechnique.com" TargetMode="External"/><Relationship Id="rId4" Type="http://schemas.openxmlformats.org/officeDocument/2006/relationships/hyperlink" Target="https://doi.org/10.1037/0033-2909.132.3.354" TargetMode="External"/><Relationship Id="rId5" Type="http://schemas.openxmlformats.org/officeDocument/2006/relationships/hyperlink" Target="https://doi.org/10.1111/j.1467-9280.2006.01693.x" TargetMode="External"/><Relationship Id="rId6" Type="http://schemas.openxmlformats.org/officeDocument/2006/relationships/hyperlink" Target="https://psychclassics.yorku.ca/Ebbinghaus/index.htm" TargetMode="External"/><Relationship Id="rId7" Type="http://schemas.openxmlformats.org/officeDocument/2006/relationships/hyperlink" Target="https://static.pib.gov.in/WriteReadData/userfiles/NEP_Final_English_0.pdf" TargetMode="External"/><Relationship Id="rId8" Type="http://schemas.openxmlformats.org/officeDocument/2006/relationships/image" Target="../media/image14.png"/><Relationship Id="rId9" Type="http://schemas.openxmlformats.org/officeDocument/2006/relationships/hyperlink" Target="https://github.com/QwenLM/Qwen3" TargetMode="External"/><Relationship Id="rId10" Type="http://schemas.openxmlformats.org/officeDocument/2006/relationships/hyperlink" Target="https://github.com/ggml-org/llama.cpp" TargetMode="External"/><Relationship Id="rId11" Type="http://schemas.openxmlformats.org/officeDocument/2006/relationships/hyperlink" Target="https://huggingface.co/hexgrad/Kokoro-82M" TargetMode="External"/><Relationship Id="rId12" Type="http://schemas.openxmlformats.org/officeDocument/2006/relationships/hyperlink" Target="https://github.com/usefulsensors/moonshine" TargetMode="External"/><Relationship Id="rId13" Type="http://schemas.openxmlformats.org/officeDocument/2006/relationships/hyperlink" Target="https://github.com/opencv/opencv_zoo" TargetMode="External"/><Relationship Id="rId14" Type="http://schemas.openxmlformats.org/officeDocument/2006/relationships/hyperlink" Target="https://github.com/rhasspy/piper" TargetMode="External"/><Relationship Id="rId15" Type="http://schemas.openxmlformats.org/officeDocument/2006/relationships/hyperlink" Target="https://raspberrypi.com/documentation" TargetMode="External"/><Relationship Id="rId16" Type="http://schemas.openxmlformats.org/officeDocument/2006/relationships/image" Target="../media/image19.png"/><Relationship Id="rId17" Type="http://schemas.openxmlformats.org/officeDocument/2006/relationships/hyperlink" Target="https://miko.ai" TargetMode="External"/><Relationship Id="rId18" Type="http://schemas.openxmlformats.org/officeDocument/2006/relationships/hyperlink" Target="https://amazon.in" TargetMode="External"/><Relationship Id="rId19" Type="http://schemas.openxmlformats.org/officeDocument/2006/relationships/hyperlink" Target="https://makewonder.com" TargetMode="External"/><Relationship Id="rId20" Type="http://schemas.openxmlformats.org/officeDocument/2006/relationships/hyperlink" Target="https://living.ai" TargetMode="External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4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8;p1"/>
          <p:cNvSpPr/>
          <p:nvPr/>
        </p:nvSpPr>
        <p:spPr>
          <a:xfrm>
            <a:off x="1524000" y="0"/>
            <a:ext cx="9144000" cy="6858000"/>
          </a:xfrm>
          <a:prstGeom prst="rect"/>
          <a:solidFill>
            <a:schemeClr val="lt1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7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ah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2" name="Google Shape;90;p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/>
          <a:noFill/>
          <a:ln>
            <a:noFill/>
          </a:ln>
        </p:spPr>
      </p:pic>
      <p:sp>
        <p:nvSpPr>
          <p:cNvPr id="1048588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indent="0" lvl="0" marL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89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4000" lang="en-US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48590" name="Google Shape;93;p1"/>
          <p:cNvSpPr txBox="1"/>
          <p:nvPr/>
        </p:nvSpPr>
        <p:spPr>
          <a:xfrm>
            <a:off x="331274" y="1864025"/>
            <a:ext cx="6375000" cy="43585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just" indent="-285750" lvl="0" marL="285750" marR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cap="none" sz="24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number- SIH26224</a:t>
            </a:r>
            <a:endParaRPr b="1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 indent="-285750" lvl="0" marL="285750" marR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cap="none" sz="24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Student Innovation</a:t>
            </a:r>
            <a:endParaRPr b="1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 indent="-285750" lvl="0" marL="285750" marR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cap="none" sz="24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Smart Education</a:t>
            </a:r>
            <a:endParaRPr b="1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 indent="-285750" lvl="0" marL="285750" marR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cap="none" sz="24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Hardware</a:t>
            </a:r>
            <a:endParaRPr b="1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 indent="-285750" lvl="0" marL="285750" marR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cap="none" sz="24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 HackTuah</a:t>
            </a:r>
            <a:endParaRPr b="1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7153" name="Google Shape;94;p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100;p2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9" name="Google Shape;101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048600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01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02" name="Google Shape;105;p2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4" name="Google Shape;106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603" name="TextBox 106"/>
          <p:cNvSpPr txBox="1"/>
          <p:nvPr/>
        </p:nvSpPr>
        <p:spPr>
          <a:xfrm>
            <a:off x="411480" y="1261872"/>
            <a:ext cx="534924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048604" name="Rounded Rectangle 107"/>
          <p:cNvSpPr/>
          <p:nvPr/>
        </p:nvSpPr>
        <p:spPr>
          <a:xfrm>
            <a:off x="411480" y="1572768"/>
            <a:ext cx="5349240" cy="1783080"/>
          </a:xfrm>
          <a:prstGeom prst="roundRect">
            <a:avLst>
              <a:gd name="adj" fmla="val 3076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05" name="TextBox 108"/>
          <p:cNvSpPr txBox="1"/>
          <p:nvPr/>
        </p:nvSpPr>
        <p:spPr>
          <a:xfrm>
            <a:off x="667512" y="1700784"/>
            <a:ext cx="4837175" cy="1295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2200" i="0">
                <a:solidFill>
                  <a:srgbClr val="FFFFFF"/>
                </a:solidFill>
                <a:latin typeface="Arial"/>
              </a:rPr>
              <a:t>Table Tot</a:t>
            </a:r>
          </a:p>
          <a:p>
            <a:pPr algn="l">
              <a:spcAft>
                <a:spcPts val="600"/>
              </a:spcAft>
            </a:pPr>
            <a:r>
              <a:rPr b="1" sz="1350" i="0">
                <a:solidFill>
                  <a:srgbClr val="FFFFFF"/>
                </a:solidFill>
                <a:latin typeface="Arial"/>
              </a:rPr>
              <a:t>An AI-powered desk companion robot that lives on the student's study desk.</a:t>
            </a:r>
          </a:p>
          <a:p>
            <a:pPr algn="l"/>
            <a:r>
              <a:rPr b="0" sz="1100" i="0">
                <a:solidFill>
                  <a:srgbClr val="D9E2F0"/>
                </a:solidFill>
                <a:latin typeface="Arial"/>
              </a:rPr>
              <a:t>Learns the student's routine and study patterns, then builds personalised productivity workflows around them. Raspberry Pi, camera, mic, speaker, servos and an animated face in one desk-sized body.</a:t>
            </a:r>
          </a:p>
        </p:txBody>
      </p:sp>
      <p:sp>
        <p:nvSpPr>
          <p:cNvPr id="1048606" name="TextBox 109"/>
          <p:cNvSpPr txBox="1"/>
          <p:nvPr/>
        </p:nvSpPr>
        <p:spPr>
          <a:xfrm>
            <a:off x="411480" y="3547872"/>
            <a:ext cx="534924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048607" name="Oval 110"/>
          <p:cNvSpPr/>
          <p:nvPr/>
        </p:nvSpPr>
        <p:spPr>
          <a:xfrm>
            <a:off x="475488" y="3913632"/>
            <a:ext cx="182880" cy="182880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sp>
        <p:nvSpPr>
          <p:cNvPr id="1048608" name="TextBox 111"/>
          <p:cNvSpPr txBox="1"/>
          <p:nvPr/>
        </p:nvSpPr>
        <p:spPr>
          <a:xfrm>
            <a:off x="822960" y="3858768"/>
            <a:ext cx="4937759" cy="4699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200" i="0">
                <a:solidFill>
                  <a:srgbClr val="1F3864"/>
                </a:solidFill>
                <a:latin typeface="Arial"/>
              </a:rPr>
              <a:t>No structured self-study guidance</a:t>
            </a:r>
          </a:p>
          <a:p>
            <a:pPr algn="l"/>
            <a:r>
              <a:rPr b="0" sz="1050" i="0">
                <a:solidFill>
                  <a:srgbClr val="5B6770"/>
                </a:solidFill>
                <a:latin typeface="Arial"/>
              </a:rPr>
              <a:t>Builds and enforces a personal study rhythm: timers, revision scheduling and reminders.</a:t>
            </a:r>
          </a:p>
        </p:txBody>
      </p:sp>
      <p:sp>
        <p:nvSpPr>
          <p:cNvPr id="1048609" name="Oval 112"/>
          <p:cNvSpPr/>
          <p:nvPr/>
        </p:nvSpPr>
        <p:spPr>
          <a:xfrm>
            <a:off x="475488" y="4690872"/>
            <a:ext cx="182880" cy="182880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sp>
        <p:nvSpPr>
          <p:cNvPr id="1048610" name="TextBox 113"/>
          <p:cNvSpPr txBox="1"/>
          <p:nvPr/>
        </p:nvSpPr>
        <p:spPr>
          <a:xfrm>
            <a:off x="822960" y="4636007"/>
            <a:ext cx="4937759" cy="4699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200" i="0">
                <a:solidFill>
                  <a:srgbClr val="1F3864"/>
                </a:solidFill>
                <a:latin typeface="Arial"/>
              </a:rPr>
              <a:t>Study apps are easy to ignore</a:t>
            </a:r>
          </a:p>
          <a:p>
            <a:pPr algn="l"/>
            <a:r>
              <a:rPr b="0" sz="1050" i="0">
                <a:solidFill>
                  <a:srgbClr val="5B6770"/>
                </a:solidFill>
                <a:latin typeface="Arial"/>
              </a:rPr>
              <a:t>A physical companion with voice, gestures and expressions creates engagement and accountability.</a:t>
            </a:r>
          </a:p>
        </p:txBody>
      </p:sp>
      <p:sp>
        <p:nvSpPr>
          <p:cNvPr id="1048611" name="Oval 114"/>
          <p:cNvSpPr/>
          <p:nvPr/>
        </p:nvSpPr>
        <p:spPr>
          <a:xfrm>
            <a:off x="475488" y="5468112"/>
            <a:ext cx="182880" cy="182880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sp>
        <p:nvSpPr>
          <p:cNvPr id="1048612" name="TextBox 115"/>
          <p:cNvSpPr txBox="1"/>
          <p:nvPr/>
        </p:nvSpPr>
        <p:spPr>
          <a:xfrm>
            <a:off x="822960" y="5413247"/>
            <a:ext cx="4937759" cy="3302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200" i="0">
                <a:solidFill>
                  <a:srgbClr val="1F3864"/>
                </a:solidFill>
                <a:latin typeface="Arial"/>
              </a:rPr>
              <a:t>Parents have no visibility</a:t>
            </a:r>
          </a:p>
          <a:p>
            <a:pPr algn="l"/>
            <a:r>
              <a:rPr b="0" sz="1050" i="0">
                <a:solidFill>
                  <a:srgbClr val="5B6770"/>
                </a:solidFill>
                <a:latin typeface="Arial"/>
              </a:rPr>
              <a:t>A local web dashboard shows study insights without intrusive surveillance.</a:t>
            </a:r>
          </a:p>
        </p:txBody>
      </p:sp>
      <p:sp>
        <p:nvSpPr>
          <p:cNvPr id="1048613" name="TextBox 116"/>
          <p:cNvSpPr txBox="1"/>
          <p:nvPr/>
        </p:nvSpPr>
        <p:spPr>
          <a:xfrm>
            <a:off x="6035040" y="1261872"/>
            <a:ext cx="5742432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048614" name="Rounded Rectangle 117"/>
          <p:cNvSpPr/>
          <p:nvPr/>
        </p:nvSpPr>
        <p:spPr>
          <a:xfrm>
            <a:off x="6035040" y="1572768"/>
            <a:ext cx="2779776" cy="2194560"/>
          </a:xfrm>
          <a:prstGeom prst="roundRect">
            <a:avLst>
              <a:gd name="adj" fmla="val 2500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15" name="Oval 118"/>
          <p:cNvSpPr/>
          <p:nvPr/>
        </p:nvSpPr>
        <p:spPr>
          <a:xfrm>
            <a:off x="6236207" y="1773936"/>
            <a:ext cx="384048" cy="384048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55" name="Picture 119" descr="offlin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28379" y="1866107"/>
            <a:ext cx="199704" cy="199704"/>
          </a:xfrm>
          <a:prstGeom prst="rect"/>
        </p:spPr>
      </p:pic>
      <p:sp>
        <p:nvSpPr>
          <p:cNvPr id="1048616" name="TextBox 120"/>
          <p:cNvSpPr txBox="1"/>
          <p:nvPr/>
        </p:nvSpPr>
        <p:spPr>
          <a:xfrm>
            <a:off x="6729983" y="1870710"/>
            <a:ext cx="1883664" cy="1905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Offline-first by design</a:t>
            </a:r>
          </a:p>
        </p:txBody>
      </p:sp>
      <p:sp>
        <p:nvSpPr>
          <p:cNvPr id="1048617" name="TextBox 121"/>
          <p:cNvSpPr txBox="1"/>
          <p:nvPr/>
        </p:nvSpPr>
        <p:spPr>
          <a:xfrm>
            <a:off x="6236207" y="2286000"/>
            <a:ext cx="2377440" cy="1028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700"/>
              </a:spcAft>
            </a:pPr>
            <a:r>
              <a:rPr b="0" sz="1100" i="0">
                <a:solidFill>
                  <a:srgbClr val="1F2933"/>
                </a:solidFill>
                <a:latin typeface="Arial"/>
              </a:rPr>
              <a:t>A small language model on the Pi answers questions and builds quizzes offline, and decides when a cloud LLM is really needed.</a:t>
            </a:r>
          </a:p>
          <a:p>
            <a:pPr algn="l"/>
            <a:r>
              <a:rPr b="0" sz="1000" i="1">
                <a:solidFill>
                  <a:srgbClr val="0070C0"/>
                </a:solidFill>
                <a:latin typeface="Arial"/>
              </a:rPr>
              <a:t>A student in a hostel with no WiFi still gets a full study session, quizzes included.</a:t>
            </a:r>
          </a:p>
        </p:txBody>
      </p:sp>
      <p:sp>
        <p:nvSpPr>
          <p:cNvPr id="1048618" name="Rounded Rectangle 122"/>
          <p:cNvSpPr/>
          <p:nvPr/>
        </p:nvSpPr>
        <p:spPr>
          <a:xfrm>
            <a:off x="8997696" y="1572768"/>
            <a:ext cx="2779776" cy="2194560"/>
          </a:xfrm>
          <a:prstGeom prst="roundRect">
            <a:avLst>
              <a:gd name="adj" fmla="val 25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19" name="Oval 123"/>
          <p:cNvSpPr/>
          <p:nvPr/>
        </p:nvSpPr>
        <p:spPr>
          <a:xfrm>
            <a:off x="9198864" y="1773936"/>
            <a:ext cx="384048" cy="384048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56" name="Picture 124" descr="brain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9291035" y="1866107"/>
            <a:ext cx="199704" cy="199704"/>
          </a:xfrm>
          <a:prstGeom prst="rect"/>
        </p:spPr>
      </p:pic>
      <p:sp>
        <p:nvSpPr>
          <p:cNvPr id="1048620" name="TextBox 125"/>
          <p:cNvSpPr txBox="1"/>
          <p:nvPr/>
        </p:nvSpPr>
        <p:spPr>
          <a:xfrm>
            <a:off x="9692640" y="1773936"/>
            <a:ext cx="1883664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Age and psychology adaptive</a:t>
            </a:r>
          </a:p>
        </p:txBody>
      </p:sp>
      <p:sp>
        <p:nvSpPr>
          <p:cNvPr id="1048621" name="TextBox 126"/>
          <p:cNvSpPr txBox="1"/>
          <p:nvPr/>
        </p:nvSpPr>
        <p:spPr>
          <a:xfrm>
            <a:off x="9198864" y="2286000"/>
            <a:ext cx="2377440" cy="1028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700"/>
              </a:spcAft>
            </a:pPr>
            <a:r>
              <a:rPr b="0" sz="1100" i="0">
                <a:solidFill>
                  <a:srgbClr val="1F2933"/>
                </a:solidFill>
                <a:latin typeface="Arial"/>
              </a:rPr>
              <a:t>Difficulty, prompts, tone and personality adjust to the student's developmental stage and observed study patterns.</a:t>
            </a:r>
          </a:p>
          <a:p>
            <a:pPr algn="l"/>
            <a:r>
              <a:rPr b="0" sz="1000" i="1">
                <a:solidFill>
                  <a:srgbClr val="F47B20"/>
                </a:solidFill>
                <a:latin typeface="Arial"/>
              </a:rPr>
              <a:t>A 9-year-old gets playful story prompts; a class 12 student gets exam-style drills.</a:t>
            </a:r>
          </a:p>
        </p:txBody>
      </p:sp>
      <p:sp>
        <p:nvSpPr>
          <p:cNvPr id="1048622" name="Rounded Rectangle 127"/>
          <p:cNvSpPr/>
          <p:nvPr/>
        </p:nvSpPr>
        <p:spPr>
          <a:xfrm>
            <a:off x="6035040" y="3950208"/>
            <a:ext cx="2779776" cy="2194560"/>
          </a:xfrm>
          <a:prstGeom prst="roundRect">
            <a:avLst>
              <a:gd name="adj" fmla="val 2500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23" name="Oval 128"/>
          <p:cNvSpPr/>
          <p:nvPr/>
        </p:nvSpPr>
        <p:spPr>
          <a:xfrm>
            <a:off x="6236207" y="4151376"/>
            <a:ext cx="384048" cy="384048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57" name="Picture 129" descr="han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328379" y="4243547"/>
            <a:ext cx="199704" cy="199704"/>
          </a:xfrm>
          <a:prstGeom prst="rect"/>
        </p:spPr>
      </p:pic>
      <p:sp>
        <p:nvSpPr>
          <p:cNvPr id="1048624" name="TextBox 130"/>
          <p:cNvSpPr txBox="1"/>
          <p:nvPr/>
        </p:nvSpPr>
        <p:spPr>
          <a:xfrm>
            <a:off x="6729983" y="4248149"/>
            <a:ext cx="1883664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Multi-modal interaction</a:t>
            </a:r>
          </a:p>
        </p:txBody>
      </p:sp>
      <p:sp>
        <p:nvSpPr>
          <p:cNvPr id="1048625" name="TextBox 131"/>
          <p:cNvSpPr txBox="1"/>
          <p:nvPr/>
        </p:nvSpPr>
        <p:spPr>
          <a:xfrm>
            <a:off x="6236207" y="4663440"/>
            <a:ext cx="2377440" cy="1028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700"/>
              </a:spcAft>
            </a:pPr>
            <a:r>
              <a:rPr b="0" sz="1100" i="0">
                <a:solidFill>
                  <a:srgbClr val="1F2933"/>
                </a:solidFill>
                <a:latin typeface="Arial"/>
              </a:rPr>
              <a:t>Voice, gesture control, face recognition and proximity sensing give a hands-free, natural way to study.</a:t>
            </a:r>
          </a:p>
          <a:p>
            <a:pPr algn="l"/>
            <a:r>
              <a:rPr b="0" sz="1000" i="1">
                <a:solidFill>
                  <a:srgbClr val="2E8B3D"/>
                </a:solidFill>
                <a:latin typeface="Arial"/>
              </a:rPr>
              <a:t>Raise a palm to pause the timer; Tot wakes up when the student sits down.</a:t>
            </a:r>
          </a:p>
        </p:txBody>
      </p:sp>
      <p:sp>
        <p:nvSpPr>
          <p:cNvPr id="1048626" name="Rounded Rectangle 132"/>
          <p:cNvSpPr/>
          <p:nvPr/>
        </p:nvSpPr>
        <p:spPr>
          <a:xfrm>
            <a:off x="8997696" y="3950208"/>
            <a:ext cx="2779776" cy="2194560"/>
          </a:xfrm>
          <a:prstGeom prst="roundRect">
            <a:avLst>
              <a:gd name="adj" fmla="val 25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27" name="Oval 133"/>
          <p:cNvSpPr/>
          <p:nvPr/>
        </p:nvSpPr>
        <p:spPr>
          <a:xfrm>
            <a:off x="9198864" y="4151376"/>
            <a:ext cx="384048" cy="384048"/>
          </a:xfrm>
          <a:prstGeom prst="ellipse"/>
          <a:solidFill>
            <a:srgbClr val="4A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58" name="Picture 134" descr="mask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291035" y="4243547"/>
            <a:ext cx="199704" cy="199704"/>
          </a:xfrm>
          <a:prstGeom prst="rect"/>
        </p:spPr>
      </p:pic>
      <p:sp>
        <p:nvSpPr>
          <p:cNvPr id="1048628" name="TextBox 135"/>
          <p:cNvSpPr txBox="1"/>
          <p:nvPr/>
        </p:nvSpPr>
        <p:spPr>
          <a:xfrm>
            <a:off x="9692640" y="4248149"/>
            <a:ext cx="1883664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Dynamic personality</a:t>
            </a:r>
          </a:p>
        </p:txBody>
      </p:sp>
      <p:sp>
        <p:nvSpPr>
          <p:cNvPr id="1048629" name="TextBox 136"/>
          <p:cNvSpPr txBox="1"/>
          <p:nvPr/>
        </p:nvSpPr>
        <p:spPr>
          <a:xfrm>
            <a:off x="9198864" y="4663440"/>
            <a:ext cx="2377440" cy="1028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700"/>
              </a:spcAft>
            </a:pPr>
            <a:r>
              <a:rPr b="0" sz="1100" i="0">
                <a:solidFill>
                  <a:srgbClr val="1F2933"/>
                </a:solidFill>
                <a:latin typeface="Arial"/>
              </a:rPr>
              <a:t>Friend, teacher or detective personas, plus an expressive animated face, keep engagement fresh across age groups.</a:t>
            </a:r>
          </a:p>
          <a:p>
            <a:pPr algn="l"/>
            <a:r>
              <a:rPr b="0" sz="1000" i="1">
                <a:solidFill>
                  <a:srgbClr val="4A5C68"/>
                </a:solidFill>
                <a:latin typeface="Arial"/>
              </a:rPr>
              <a:t>Detective mode turns a history chapter into clues to solve.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00;p2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4" name="Google Shape;101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KEY FEATURES</a:t>
            </a:r>
          </a:p>
        </p:txBody>
      </p:sp>
      <p:sp>
        <p:nvSpPr>
          <p:cNvPr id="1048635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36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37" name="Google Shape;105;p2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9" name="Google Shape;106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638" name="Rounded Rectangle 106"/>
          <p:cNvSpPr/>
          <p:nvPr/>
        </p:nvSpPr>
        <p:spPr>
          <a:xfrm>
            <a:off x="411480" y="1325880"/>
            <a:ext cx="2724912" cy="3246120"/>
          </a:xfrm>
          <a:prstGeom prst="roundRect">
            <a:avLst>
              <a:gd name="adj" fmla="val 2013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39" name="Oval 107"/>
          <p:cNvSpPr/>
          <p:nvPr/>
        </p:nvSpPr>
        <p:spPr>
          <a:xfrm>
            <a:off x="612648" y="1527048"/>
            <a:ext cx="384048" cy="384048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0" name="Picture 108" descr="book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4819" y="1619219"/>
            <a:ext cx="199704" cy="199704"/>
          </a:xfrm>
          <a:prstGeom prst="rect"/>
        </p:spPr>
      </p:pic>
      <p:sp>
        <p:nvSpPr>
          <p:cNvPr id="1048640" name="TextBox 109"/>
          <p:cNvSpPr txBox="1"/>
          <p:nvPr/>
        </p:nvSpPr>
        <p:spPr>
          <a:xfrm>
            <a:off x="1106424" y="1623821"/>
            <a:ext cx="1828800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Study Tools</a:t>
            </a:r>
          </a:p>
        </p:txBody>
      </p:sp>
      <p:sp>
        <p:nvSpPr>
          <p:cNvPr id="1048641" name="TextBox 110"/>
          <p:cNvSpPr txBox="1"/>
          <p:nvPr/>
        </p:nvSpPr>
        <p:spPr>
          <a:xfrm>
            <a:off x="612648" y="2039112"/>
            <a:ext cx="2322576" cy="18669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Pomodoro and normal timers, alarms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To-do list and calendar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AI tutor: on-device SLM + cloud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Quizzes and flashcards, offline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Notes with OCR from books and handwriting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Daily news and general knowledge feed</a:t>
            </a:r>
          </a:p>
        </p:txBody>
      </p:sp>
      <p:sp>
        <p:nvSpPr>
          <p:cNvPr id="1048642" name="Rounded Rectangle 111"/>
          <p:cNvSpPr/>
          <p:nvPr/>
        </p:nvSpPr>
        <p:spPr>
          <a:xfrm>
            <a:off x="3291840" y="1325880"/>
            <a:ext cx="2724912" cy="3246120"/>
          </a:xfrm>
          <a:prstGeom prst="roundRect">
            <a:avLst>
              <a:gd name="adj" fmla="val 2013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43" name="Oval 112"/>
          <p:cNvSpPr/>
          <p:nvPr/>
        </p:nvSpPr>
        <p:spPr>
          <a:xfrm>
            <a:off x="3493008" y="1527048"/>
            <a:ext cx="384048" cy="384048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1" name="Picture 113" descr="mic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585179" y="1619219"/>
            <a:ext cx="199704" cy="199704"/>
          </a:xfrm>
          <a:prstGeom prst="rect"/>
        </p:spPr>
      </p:pic>
      <p:sp>
        <p:nvSpPr>
          <p:cNvPr id="1048644" name="TextBox 114"/>
          <p:cNvSpPr txBox="1"/>
          <p:nvPr/>
        </p:nvSpPr>
        <p:spPr>
          <a:xfrm>
            <a:off x="3986784" y="1623821"/>
            <a:ext cx="1828800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Smart Interaction</a:t>
            </a:r>
          </a:p>
        </p:txBody>
      </p:sp>
      <p:sp>
        <p:nvSpPr>
          <p:cNvPr id="1048645" name="TextBox 115"/>
          <p:cNvSpPr txBox="1"/>
          <p:nvPr/>
        </p:nvSpPr>
        <p:spPr>
          <a:xfrm>
            <a:off x="3493008" y="2039112"/>
            <a:ext cx="2322576" cy="2197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Voice input and spoken replies</a:t>
            </a:r>
          </a:p>
          <a:p>
            <a:pPr algn="l" indent="-164592" marL="164592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Face recognition and proximity sensing</a:t>
            </a:r>
          </a:p>
          <a:p>
            <a:pPr algn="l" indent="-164592" marL="164592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Gesture control for hands-free use</a:t>
            </a:r>
          </a:p>
          <a:p>
            <a:pPr algn="l" indent="-164592" marL="164592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Animated face and dynamic screens</a:t>
            </a:r>
          </a:p>
          <a:p>
            <a:pPr algn="l" indent="-164592" marL="164592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Servo-driven head and body movement</a:t>
            </a:r>
          </a:p>
          <a:p>
            <a:pPr algn="l" indent="-164592" marL="164592">
              <a:spcAft>
                <a:spcPts val="6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Student persona and pattern tracking</a:t>
            </a:r>
          </a:p>
        </p:txBody>
      </p:sp>
      <p:sp>
        <p:nvSpPr>
          <p:cNvPr id="1048646" name="Rounded Rectangle 116"/>
          <p:cNvSpPr/>
          <p:nvPr/>
        </p:nvSpPr>
        <p:spPr>
          <a:xfrm>
            <a:off x="6172200" y="1325880"/>
            <a:ext cx="2724912" cy="3246120"/>
          </a:xfrm>
          <a:prstGeom prst="roundRect">
            <a:avLst>
              <a:gd name="adj" fmla="val 2013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47" name="Oval 117"/>
          <p:cNvSpPr/>
          <p:nvPr/>
        </p:nvSpPr>
        <p:spPr>
          <a:xfrm>
            <a:off x="6373368" y="1527048"/>
            <a:ext cx="384048" cy="384048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2" name="Picture 118" descr="heart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65539" y="1619219"/>
            <a:ext cx="199704" cy="199704"/>
          </a:xfrm>
          <a:prstGeom prst="rect"/>
        </p:spPr>
      </p:pic>
      <p:sp>
        <p:nvSpPr>
          <p:cNvPr id="1048648" name="TextBox 119"/>
          <p:cNvSpPr txBox="1"/>
          <p:nvPr/>
        </p:nvSpPr>
        <p:spPr>
          <a:xfrm>
            <a:off x="6867144" y="1623821"/>
            <a:ext cx="1828800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Wellness and Safety</a:t>
            </a:r>
          </a:p>
        </p:txBody>
      </p:sp>
      <p:sp>
        <p:nvSpPr>
          <p:cNvPr id="1048649" name="TextBox 120"/>
          <p:cNvSpPr txBox="1"/>
          <p:nvPr/>
        </p:nvSpPr>
        <p:spPr>
          <a:xfrm>
            <a:off x="6373368" y="2039112"/>
            <a:ext cx="2322576" cy="17018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Hydration, posture and break reminders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Fatigue cues from camera and usage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Child-safe content filtering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All personal data stays on-device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No cloud storage of face or voice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Cloud queries anonymised first</a:t>
            </a:r>
          </a:p>
        </p:txBody>
      </p:sp>
      <p:sp>
        <p:nvSpPr>
          <p:cNvPr id="1048650" name="Rounded Rectangle 121"/>
          <p:cNvSpPr/>
          <p:nvPr/>
        </p:nvSpPr>
        <p:spPr>
          <a:xfrm>
            <a:off x="9052559" y="1325880"/>
            <a:ext cx="2724912" cy="3246120"/>
          </a:xfrm>
          <a:prstGeom prst="roundRect">
            <a:avLst>
              <a:gd name="adj" fmla="val 2013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51" name="Oval 122"/>
          <p:cNvSpPr/>
          <p:nvPr/>
        </p:nvSpPr>
        <p:spPr>
          <a:xfrm>
            <a:off x="9253728" y="1527048"/>
            <a:ext cx="384048" cy="384048"/>
          </a:xfrm>
          <a:prstGeom prst="ellipse"/>
          <a:solidFill>
            <a:srgbClr val="4A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3" name="Picture 123" descr="chart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345899" y="1619219"/>
            <a:ext cx="199704" cy="199704"/>
          </a:xfrm>
          <a:prstGeom prst="rect"/>
        </p:spPr>
      </p:pic>
      <p:sp>
        <p:nvSpPr>
          <p:cNvPr id="1048652" name="TextBox 124"/>
          <p:cNvSpPr txBox="1"/>
          <p:nvPr/>
        </p:nvSpPr>
        <p:spPr>
          <a:xfrm>
            <a:off x="9747503" y="1623821"/>
            <a:ext cx="1828800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Parent Dashboard</a:t>
            </a:r>
          </a:p>
        </p:txBody>
      </p:sp>
      <p:sp>
        <p:nvSpPr>
          <p:cNvPr id="1048653" name="TextBox 125"/>
          <p:cNvSpPr txBox="1"/>
          <p:nvPr/>
        </p:nvSpPr>
        <p:spPr>
          <a:xfrm>
            <a:off x="9253728" y="2039112"/>
            <a:ext cx="2322576" cy="19558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KPI tracking: focus time, streaks, quiz scores</a:t>
            </a:r>
          </a:p>
          <a:p>
            <a:pPr algn="l" indent="-164592" marL="164592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Study insights and weekly summaries</a:t>
            </a:r>
          </a:p>
          <a:p>
            <a:pPr algn="l" indent="-164592" marL="164592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Controls over bot behaviour and limits</a:t>
            </a:r>
          </a:p>
          <a:p>
            <a:pPr algn="l" indent="-164592" marL="164592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Upload notes, syllabus and homework</a:t>
            </a:r>
          </a:p>
          <a:p>
            <a:pPr algn="l" indent="-164592" marL="164592">
              <a:spcAft>
                <a:spcPts val="600"/>
              </a:spcAft>
              <a:buClr>
                <a:srgbClr val="4A5C68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Any browser on the home WiFi, no app install</a:t>
            </a:r>
          </a:p>
        </p:txBody>
      </p:sp>
      <p:sp>
        <p:nvSpPr>
          <p:cNvPr id="1048654" name="TextBox 126"/>
          <p:cNvSpPr txBox="1"/>
          <p:nvPr/>
        </p:nvSpPr>
        <p:spPr>
          <a:xfrm>
            <a:off x="411480" y="4754880"/>
            <a:ext cx="914400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A STUDY SESSION WITH TABLE TOT</a:t>
            </a:r>
          </a:p>
        </p:txBody>
      </p:sp>
      <p:cxnSp>
        <p:nvCxnSpPr>
          <p:cNvPr id="3145728" name="Connector 127"/>
          <p:cNvCxnSpPr>
            <a:cxnSpLocks/>
          </p:cNvCxnSpPr>
          <p:nvPr/>
        </p:nvCxnSpPr>
        <p:spPr>
          <a:xfrm>
            <a:off x="576072" y="5120640"/>
            <a:ext cx="9092793" cy="0"/>
          </a:xfrm>
          <a:prstGeom prst="line"/>
          <a:ln w="25400">
            <a:solidFill>
              <a:srgbClr val="D6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55" name="Oval 128"/>
          <p:cNvSpPr/>
          <p:nvPr/>
        </p:nvSpPr>
        <p:spPr>
          <a:xfrm>
            <a:off x="411480" y="4956048"/>
            <a:ext cx="329184" cy="329184"/>
          </a:xfrm>
          <a:prstGeom prst="ellipse"/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56" name="TextBox 129"/>
          <p:cNvSpPr txBox="1"/>
          <p:nvPr/>
        </p:nvSpPr>
        <p:spPr>
          <a:xfrm>
            <a:off x="411480" y="5358383"/>
            <a:ext cx="1998878" cy="431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Student sits down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PIR wakes Tot, face recognised, persona loaded</a:t>
            </a:r>
          </a:p>
        </p:txBody>
      </p:sp>
      <p:sp>
        <p:nvSpPr>
          <p:cNvPr id="1048657" name="Oval 130"/>
          <p:cNvSpPr/>
          <p:nvPr/>
        </p:nvSpPr>
        <p:spPr>
          <a:xfrm>
            <a:off x="2684678" y="4956048"/>
            <a:ext cx="329184" cy="329184"/>
          </a:xfrm>
          <a:prstGeom prst="ellipse"/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58" name="TextBox 131"/>
          <p:cNvSpPr txBox="1"/>
          <p:nvPr/>
        </p:nvSpPr>
        <p:spPr>
          <a:xfrm>
            <a:off x="2684678" y="5358383"/>
            <a:ext cx="1998878" cy="431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Plan the session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Today's to-dos, syllabus and due homework</a:t>
            </a:r>
          </a:p>
        </p:txBody>
      </p:sp>
      <p:sp>
        <p:nvSpPr>
          <p:cNvPr id="1048659" name="Oval 132"/>
          <p:cNvSpPr/>
          <p:nvPr/>
        </p:nvSpPr>
        <p:spPr>
          <a:xfrm>
            <a:off x="4957876" y="4956048"/>
            <a:ext cx="329184" cy="329184"/>
          </a:xfrm>
          <a:prstGeom prst="ellipse"/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60" name="TextBox 133"/>
          <p:cNvSpPr txBox="1"/>
          <p:nvPr/>
        </p:nvSpPr>
        <p:spPr>
          <a:xfrm>
            <a:off x="4957876" y="5358383"/>
            <a:ext cx="1998878" cy="431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Focus block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Pomodoro timer, posture and hydration nudges</a:t>
            </a:r>
          </a:p>
        </p:txBody>
      </p:sp>
      <p:sp>
        <p:nvSpPr>
          <p:cNvPr id="1048661" name="Oval 134"/>
          <p:cNvSpPr/>
          <p:nvPr/>
        </p:nvSpPr>
        <p:spPr>
          <a:xfrm>
            <a:off x="7231075" y="4956048"/>
            <a:ext cx="329184" cy="329184"/>
          </a:xfrm>
          <a:prstGeom prst="ellipse"/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62" name="TextBox 135"/>
          <p:cNvSpPr txBox="1"/>
          <p:nvPr/>
        </p:nvSpPr>
        <p:spPr>
          <a:xfrm>
            <a:off x="7231075" y="5358383"/>
            <a:ext cx="1998878" cy="431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Active recall break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Voice quiz from the student's own notes</a:t>
            </a:r>
          </a:p>
        </p:txBody>
      </p:sp>
      <p:sp>
        <p:nvSpPr>
          <p:cNvPr id="1048663" name="Oval 136"/>
          <p:cNvSpPr/>
          <p:nvPr/>
        </p:nvSpPr>
        <p:spPr>
          <a:xfrm>
            <a:off x="9504273" y="4956048"/>
            <a:ext cx="329184" cy="329184"/>
          </a:xfrm>
          <a:prstGeom prst="ellipse"/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8664" name="TextBox 137"/>
          <p:cNvSpPr txBox="1"/>
          <p:nvPr/>
        </p:nvSpPr>
        <p:spPr>
          <a:xfrm>
            <a:off x="9504273" y="5358383"/>
            <a:ext cx="1998878" cy="431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Wrap up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Revision scheduled, KPIs logged to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100;p2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6" name="Google Shape;101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KEY FEATURES (CONTD.)</a:t>
            </a:r>
          </a:p>
        </p:txBody>
      </p:sp>
      <p:sp>
        <p:nvSpPr>
          <p:cNvPr id="1048667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68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69" name="Google Shape;105;p2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64" name="Google Shape;106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670" name="Rounded Rectangle 106"/>
          <p:cNvSpPr/>
          <p:nvPr/>
        </p:nvSpPr>
        <p:spPr>
          <a:xfrm>
            <a:off x="411480" y="1325880"/>
            <a:ext cx="5577840" cy="2103120"/>
          </a:xfrm>
          <a:prstGeom prst="roundRect">
            <a:avLst>
              <a:gd name="adj" fmla="val 2608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71" name="Oval 107"/>
          <p:cNvSpPr/>
          <p:nvPr/>
        </p:nvSpPr>
        <p:spPr>
          <a:xfrm>
            <a:off x="612648" y="1527048"/>
            <a:ext cx="384048" cy="384048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5" name="Picture 108" descr="fil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4819" y="1619219"/>
            <a:ext cx="199704" cy="199704"/>
          </a:xfrm>
          <a:prstGeom prst="rect"/>
        </p:spPr>
      </p:pic>
      <p:sp>
        <p:nvSpPr>
          <p:cNvPr id="1048672" name="TextBox 109"/>
          <p:cNvSpPr txBox="1"/>
          <p:nvPr/>
        </p:nvSpPr>
        <p:spPr>
          <a:xfrm>
            <a:off x="1106424" y="1623821"/>
            <a:ext cx="4681727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Content Intelligence</a:t>
            </a:r>
          </a:p>
        </p:txBody>
      </p:sp>
      <p:sp>
        <p:nvSpPr>
          <p:cNvPr id="1048673" name="TextBox 110"/>
          <p:cNvSpPr txBox="1"/>
          <p:nvPr/>
        </p:nvSpPr>
        <p:spPr>
          <a:xfrm>
            <a:off x="612648" y="2039112"/>
            <a:ext cx="5175503" cy="10795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Syllabus ingestion and automatic study planner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Last-minute revision notes generation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Spaced-repetition revision scheduling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Homework upload and tracking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Curated open-source videos and articles</a:t>
            </a:r>
          </a:p>
        </p:txBody>
      </p:sp>
      <p:sp>
        <p:nvSpPr>
          <p:cNvPr id="1048674" name="Rounded Rectangle 111"/>
          <p:cNvSpPr/>
          <p:nvPr/>
        </p:nvSpPr>
        <p:spPr>
          <a:xfrm>
            <a:off x="6199632" y="1325880"/>
            <a:ext cx="5577840" cy="2103120"/>
          </a:xfrm>
          <a:prstGeom prst="roundRect">
            <a:avLst>
              <a:gd name="adj" fmla="val 2608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75" name="Oval 112"/>
          <p:cNvSpPr/>
          <p:nvPr/>
        </p:nvSpPr>
        <p:spPr>
          <a:xfrm>
            <a:off x="6400800" y="1527048"/>
            <a:ext cx="384048" cy="384048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6" name="Picture 113" descr="gamepa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492971" y="1619219"/>
            <a:ext cx="199704" cy="199704"/>
          </a:xfrm>
          <a:prstGeom prst="rect"/>
        </p:spPr>
      </p:pic>
      <p:sp>
        <p:nvSpPr>
          <p:cNvPr id="1048676" name="TextBox 114"/>
          <p:cNvSpPr txBox="1"/>
          <p:nvPr/>
        </p:nvSpPr>
        <p:spPr>
          <a:xfrm>
            <a:off x="6894576" y="1623821"/>
            <a:ext cx="4681727" cy="1905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Engagement and Learning Modes</a:t>
            </a:r>
          </a:p>
        </p:txBody>
      </p:sp>
      <p:sp>
        <p:nvSpPr>
          <p:cNvPr id="1048677" name="TextBox 115"/>
          <p:cNvSpPr txBox="1"/>
          <p:nvPr/>
        </p:nvSpPr>
        <p:spPr>
          <a:xfrm>
            <a:off x="6400800" y="2039112"/>
            <a:ext cx="5175503" cy="10795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Robot personalities: friend, teacher, detective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Story-based and game-based learning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Competitive mode and group learning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Public speaking and language practice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Concept animations generated with Manim</a:t>
            </a:r>
          </a:p>
        </p:txBody>
      </p:sp>
      <p:sp>
        <p:nvSpPr>
          <p:cNvPr id="1048678" name="TextBox 116"/>
          <p:cNvSpPr txBox="1"/>
          <p:nvPr/>
        </p:nvSpPr>
        <p:spPr>
          <a:xfrm>
            <a:off x="411480" y="3657600"/>
            <a:ext cx="731520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CONNECTIVITY MODEL: SELF-SUFFICIENT OFFLINE, SMARTER ONLINE</a:t>
            </a:r>
          </a:p>
        </p:txBody>
      </p:sp>
      <p:sp>
        <p:nvSpPr>
          <p:cNvPr id="1048679" name="Rounded Rectangle 117"/>
          <p:cNvSpPr/>
          <p:nvPr/>
        </p:nvSpPr>
        <p:spPr>
          <a:xfrm>
            <a:off x="411480" y="3968496"/>
            <a:ext cx="5257800" cy="2203704"/>
          </a:xfrm>
          <a:prstGeom prst="roundRect">
            <a:avLst>
              <a:gd name="adj" fmla="val 2489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80" name="Oval 118"/>
          <p:cNvSpPr/>
          <p:nvPr/>
        </p:nvSpPr>
        <p:spPr>
          <a:xfrm>
            <a:off x="640080" y="4160520"/>
            <a:ext cx="310896" cy="310896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sp>
        <p:nvSpPr>
          <p:cNvPr id="1048681" name="TextBox 119"/>
          <p:cNvSpPr txBox="1"/>
          <p:nvPr/>
        </p:nvSpPr>
        <p:spPr>
          <a:xfrm>
            <a:off x="1051560" y="4245355"/>
            <a:ext cx="4434840" cy="1778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250" i="0">
                <a:solidFill>
                  <a:srgbClr val="2E8B3D"/>
                </a:solidFill>
                <a:latin typeface="Arial"/>
              </a:rPr>
              <a:t>OFFLINE MODE</a:t>
            </a:r>
            <a:r>
              <a:rPr b="0" sz="1050" i="0">
                <a:solidFill>
                  <a:srgbClr val="5B6770"/>
                </a:solidFill>
                <a:latin typeface="Arial"/>
              </a:rPr>
              <a:t>   always available</a:t>
            </a:r>
          </a:p>
        </p:txBody>
      </p:sp>
      <p:sp>
        <p:nvSpPr>
          <p:cNvPr id="1048682" name="TextBox 120"/>
          <p:cNvSpPr txBox="1"/>
          <p:nvPr/>
        </p:nvSpPr>
        <p:spPr>
          <a:xfrm>
            <a:off x="640080" y="4626864"/>
            <a:ext cx="2377440" cy="647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Timers, alarms, calendar, to-do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On-device SLM: Q&amp;A and quizzes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Moonshine STT and Kokoro TTS</a:t>
            </a:r>
          </a:p>
        </p:txBody>
      </p:sp>
      <p:sp>
        <p:nvSpPr>
          <p:cNvPr id="1048683" name="TextBox 121"/>
          <p:cNvSpPr txBox="1"/>
          <p:nvPr/>
        </p:nvSpPr>
        <p:spPr>
          <a:xfrm>
            <a:off x="3108960" y="4626864"/>
            <a:ext cx="2377440" cy="647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Face detection (YuNet)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Wellness reminders</a:t>
            </a:r>
          </a:p>
          <a:p>
            <a:pPr algn="l" indent="-164592" marL="164592">
              <a:spcAft>
                <a:spcPts val="600"/>
              </a:spcAft>
              <a:buClr>
                <a:srgbClr val="2E8B3D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Scheduling, persona, KPIs</a:t>
            </a:r>
          </a:p>
        </p:txBody>
      </p:sp>
      <p:sp>
        <p:nvSpPr>
          <p:cNvPr id="1048684" name="TextBox 122"/>
          <p:cNvSpPr txBox="1"/>
          <p:nvPr/>
        </p:nvSpPr>
        <p:spPr>
          <a:xfrm>
            <a:off x="640080" y="5828029"/>
            <a:ext cx="4800600" cy="1397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000" i="0">
                <a:solidFill>
                  <a:srgbClr val="2E8B3D"/>
                </a:solidFill>
                <a:latin typeface="Arial"/>
              </a:rPr>
              <a:t>Storage: </a:t>
            </a:r>
            <a:r>
              <a:rPr b="0" sz="1000" i="0">
                <a:solidFill>
                  <a:srgbClr val="5B6770"/>
                </a:solidFill>
                <a:latin typeface="Arial"/>
              </a:rPr>
              <a:t>SQLite plus a quantised SLM; scheduling and persona data stay local.</a:t>
            </a:r>
          </a:p>
        </p:txBody>
      </p:sp>
      <p:sp>
        <p:nvSpPr>
          <p:cNvPr id="1048685" name="Rounded Rectangle 123"/>
          <p:cNvSpPr/>
          <p:nvPr/>
        </p:nvSpPr>
        <p:spPr>
          <a:xfrm>
            <a:off x="6492240" y="3968496"/>
            <a:ext cx="5257800" cy="2203704"/>
          </a:xfrm>
          <a:prstGeom prst="roundRect">
            <a:avLst>
              <a:gd name="adj" fmla="val 2489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86" name="Oval 124"/>
          <p:cNvSpPr/>
          <p:nvPr/>
        </p:nvSpPr>
        <p:spPr>
          <a:xfrm>
            <a:off x="6720840" y="4160520"/>
            <a:ext cx="310896" cy="310896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sp>
        <p:nvSpPr>
          <p:cNvPr id="1048687" name="TextBox 125"/>
          <p:cNvSpPr txBox="1"/>
          <p:nvPr/>
        </p:nvSpPr>
        <p:spPr>
          <a:xfrm>
            <a:off x="7132320" y="4245355"/>
            <a:ext cx="4434840" cy="1778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250" i="0">
                <a:solidFill>
                  <a:srgbClr val="0070C0"/>
                </a:solidFill>
                <a:latin typeface="Arial"/>
              </a:rPr>
              <a:t>ONLINE MODE</a:t>
            </a:r>
            <a:r>
              <a:rPr b="0" sz="1050" i="0">
                <a:solidFill>
                  <a:srgbClr val="5B6770"/>
                </a:solidFill>
                <a:latin typeface="Arial"/>
              </a:rPr>
              <a:t>   when WiFi is available</a:t>
            </a:r>
          </a:p>
        </p:txBody>
      </p:sp>
      <p:sp>
        <p:nvSpPr>
          <p:cNvPr id="1048688" name="TextBox 126"/>
          <p:cNvSpPr txBox="1"/>
          <p:nvPr/>
        </p:nvSpPr>
        <p:spPr>
          <a:xfrm>
            <a:off x="6720840" y="4626864"/>
            <a:ext cx="2377440" cy="647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Cloud LLM for hard questions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New flashcards and quizzes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Daily news and GK feed</a:t>
            </a:r>
          </a:p>
        </p:txBody>
      </p:sp>
      <p:sp>
        <p:nvSpPr>
          <p:cNvPr id="1048689" name="TextBox 127"/>
          <p:cNvSpPr txBox="1"/>
          <p:nvPr/>
        </p:nvSpPr>
        <p:spPr>
          <a:xfrm>
            <a:off x="9189720" y="4626864"/>
            <a:ext cx="2377440" cy="647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Whisper STT, ElevenLabs TTS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Module download and updates</a:t>
            </a:r>
          </a:p>
          <a:p>
            <a:pPr algn="l" indent="-164592" marL="164592"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sz="1100" i="0">
                <a:solidFill>
                  <a:srgbClr val="1F2933"/>
                </a:solidFill>
                <a:latin typeface="Arial"/>
              </a:rPr>
              <a:t>Syllabus and content ingestion</a:t>
            </a:r>
          </a:p>
        </p:txBody>
      </p:sp>
      <p:sp>
        <p:nvSpPr>
          <p:cNvPr id="1048690" name="TextBox 128"/>
          <p:cNvSpPr txBox="1"/>
          <p:nvPr/>
        </p:nvSpPr>
        <p:spPr>
          <a:xfrm>
            <a:off x="6720840" y="5828029"/>
            <a:ext cx="4800600" cy="13970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000" i="0">
                <a:solidFill>
                  <a:srgbClr val="0070C0"/>
                </a:solidFill>
                <a:latin typeface="Arial"/>
              </a:rPr>
              <a:t>Escalation: </a:t>
            </a:r>
            <a:r>
              <a:rPr b="0" sz="1000" i="0">
                <a:solidFill>
                  <a:srgbClr val="5B6770"/>
                </a:solidFill>
                <a:latin typeface="Arial"/>
              </a:rPr>
              <a:t>queries are anonymised before sending; no personal data is pushed.</a:t>
            </a:r>
          </a:p>
        </p:txBody>
      </p:sp>
      <p:cxnSp>
        <p:nvCxnSpPr>
          <p:cNvPr id="3145729" name="Connector 129"/>
          <p:cNvCxnSpPr>
            <a:cxnSpLocks/>
          </p:cNvCxnSpPr>
          <p:nvPr/>
        </p:nvCxnSpPr>
        <p:spPr>
          <a:xfrm>
            <a:off x="5742432" y="5070348"/>
            <a:ext cx="676656" cy="0"/>
          </a:xfrm>
          <a:prstGeom prst="line"/>
          <a:ln w="22225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91" name="TextBox 130"/>
          <p:cNvSpPr txBox="1"/>
          <p:nvPr/>
        </p:nvSpPr>
        <p:spPr>
          <a:xfrm>
            <a:off x="5669280" y="4742179"/>
            <a:ext cx="822960" cy="127001"/>
          </a:xfrm>
          <a:prstGeom prst="rect"/>
          <a:noFill/>
        </p:spPr>
        <p:txBody>
          <a:bodyPr anchor="b" bIns="0" lIns="0" rIns="0" tIns="0" wrap="square">
            <a:spAutoFit/>
          </a:bodyPr>
          <a:p>
            <a:pPr algn="ctr"/>
            <a:r>
              <a:rPr b="0" sz="900" i="1">
                <a:solidFill>
                  <a:srgbClr val="5B6770"/>
                </a:solidFill>
                <a:latin typeface="Arial"/>
              </a:rPr>
              <a:t>router</a:t>
            </a:r>
          </a:p>
        </p:txBody>
      </p:sp>
      <p:sp>
        <p:nvSpPr>
          <p:cNvPr id="1048692" name="TextBox 131"/>
          <p:cNvSpPr txBox="1"/>
          <p:nvPr/>
        </p:nvSpPr>
        <p:spPr>
          <a:xfrm>
            <a:off x="5669280" y="5161788"/>
            <a:ext cx="822960" cy="1270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900" i="1">
                <a:solidFill>
                  <a:srgbClr val="5B6770"/>
                </a:solidFill>
                <a:latin typeface="Arial"/>
              </a:rPr>
              <a:t>decides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12;p3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4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04869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69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697" name="Google Shape;117;p3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67" name="Google Shape;118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698" name="Rounded Rectangle 118"/>
          <p:cNvSpPr/>
          <p:nvPr/>
        </p:nvSpPr>
        <p:spPr>
          <a:xfrm>
            <a:off x="411480" y="1325880"/>
            <a:ext cx="3931920" cy="2788920"/>
          </a:xfrm>
          <a:prstGeom prst="roundRect">
            <a:avLst>
              <a:gd name="adj" fmla="val 2033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699" name="Oval 119"/>
          <p:cNvSpPr/>
          <p:nvPr/>
        </p:nvSpPr>
        <p:spPr>
          <a:xfrm>
            <a:off x="612648" y="1527048"/>
            <a:ext cx="384048" cy="384048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8" name="Picture 120" descr="chip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4819" y="1619219"/>
            <a:ext cx="199704" cy="199704"/>
          </a:xfrm>
          <a:prstGeom prst="rect"/>
        </p:spPr>
      </p:pic>
      <p:sp>
        <p:nvSpPr>
          <p:cNvPr id="1048700" name="TextBox 121"/>
          <p:cNvSpPr txBox="1"/>
          <p:nvPr/>
        </p:nvSpPr>
        <p:spPr>
          <a:xfrm>
            <a:off x="1106424" y="1527048"/>
            <a:ext cx="3035808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Hardware</a:t>
            </a:r>
          </a:p>
        </p:txBody>
      </p:sp>
      <p:sp>
        <p:nvSpPr>
          <p:cNvPr id="1048701" name="TextBox 122"/>
          <p:cNvSpPr txBox="1"/>
          <p:nvPr/>
        </p:nvSpPr>
        <p:spPr>
          <a:xfrm>
            <a:off x="612648" y="2039112"/>
            <a:ext cx="3529584" cy="149778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Raspberry Pi 5 (4 GB)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main compute</a:t>
            </a:r>
          </a:p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BeagleBone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development board</a:t>
            </a:r>
          </a:p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2 x servos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head and body movement</a:t>
            </a:r>
          </a:p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Camera module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face, gesture, OCR</a:t>
            </a:r>
          </a:p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IPS display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animated face and UI</a:t>
            </a:r>
          </a:p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USB mic + speaker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voice in and out</a:t>
            </a:r>
          </a:p>
          <a:p>
            <a:pPr algn="l" indent="-164592" marL="164592">
              <a:spcAft>
                <a:spcPts val="350"/>
              </a:spcAft>
              <a:buClr>
                <a:srgbClr val="F47B2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PIR motion sensor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presence detection</a:t>
            </a:r>
          </a:p>
        </p:txBody>
      </p:sp>
      <p:sp>
        <p:nvSpPr>
          <p:cNvPr id="1048702" name="TextBox 123"/>
          <p:cNvSpPr txBox="1"/>
          <p:nvPr/>
        </p:nvSpPr>
        <p:spPr>
          <a:xfrm>
            <a:off x="612648" y="3566160"/>
            <a:ext cx="3529584" cy="32004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950" i="0">
                <a:solidFill>
                  <a:srgbClr val="F47B20"/>
                </a:solidFill>
                <a:latin typeface="Arial"/>
              </a:rPr>
              <a:t>Pi, servos and camera in hand. </a:t>
            </a:r>
            <a:r>
              <a:rPr b="0" sz="950" i="0">
                <a:solidFill>
                  <a:srgbClr val="5B6770"/>
                </a:solidFill>
                <a:latin typeface="Arial"/>
              </a:rPr>
              <a:t>BOM stays affordable.</a:t>
            </a:r>
          </a:p>
        </p:txBody>
      </p:sp>
      <p:sp>
        <p:nvSpPr>
          <p:cNvPr id="1048703" name="Rounded Rectangle 124"/>
          <p:cNvSpPr/>
          <p:nvPr/>
        </p:nvSpPr>
        <p:spPr>
          <a:xfrm>
            <a:off x="4526280" y="1325880"/>
            <a:ext cx="7251192" cy="2788920"/>
          </a:xfrm>
          <a:prstGeom prst="roundRect">
            <a:avLst>
              <a:gd name="adj" fmla="val 2033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04" name="Oval 125"/>
          <p:cNvSpPr/>
          <p:nvPr/>
        </p:nvSpPr>
        <p:spPr>
          <a:xfrm>
            <a:off x="4727448" y="1527048"/>
            <a:ext cx="384048" cy="384048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69" name="Picture 126" descr="cod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819619" y="1619219"/>
            <a:ext cx="199704" cy="199704"/>
          </a:xfrm>
          <a:prstGeom prst="rect"/>
        </p:spPr>
      </p:pic>
      <p:sp>
        <p:nvSpPr>
          <p:cNvPr id="1048705" name="TextBox 127"/>
          <p:cNvSpPr txBox="1"/>
          <p:nvPr/>
        </p:nvSpPr>
        <p:spPr>
          <a:xfrm>
            <a:off x="5221224" y="1527048"/>
            <a:ext cx="6355079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Software Stack</a:t>
            </a:r>
          </a:p>
        </p:txBody>
      </p:sp>
      <p:sp>
        <p:nvSpPr>
          <p:cNvPr id="1048706" name="TextBox 128"/>
          <p:cNvSpPr txBox="1"/>
          <p:nvPr/>
        </p:nvSpPr>
        <p:spPr>
          <a:xfrm>
            <a:off x="4727448" y="2039112"/>
            <a:ext cx="3332987" cy="186354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Python</a:t>
            </a: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FastAPI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REST + WebSocket server on the Pi</a:t>
            </a: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SQLite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offline-first, zero-setup local DB</a:t>
            </a: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OpenCV</a:t>
            </a: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sz="1050" i="0">
                <a:solidFill>
                  <a:srgbClr val="1F2933"/>
                </a:solidFill>
                <a:latin typeface="Arial"/>
              </a:rPr>
              <a:t>Moonshine + Kokoro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 offline speech in and out</a:t>
            </a:r>
          </a:p>
        </p:txBody>
      </p:sp>
      <p:sp>
        <p:nvSpPr>
          <p:cNvPr id="1048707" name="TextBox 129"/>
          <p:cNvSpPr txBox="1"/>
          <p:nvPr/>
        </p:nvSpPr>
        <p:spPr>
          <a:xfrm>
            <a:off x="8243315" y="2039112"/>
            <a:ext cx="3332987" cy="800219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1050" i="0" err="1">
                <a:solidFill>
                  <a:srgbClr val="1F2933"/>
                </a:solidFill>
                <a:latin typeface="Arial"/>
              </a:rPr>
              <a:t>C / C++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  local on-robot display</a:t>
            </a: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React + Vite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  parent dashboard over </a:t>
            </a:r>
            <a:r>
              <a:rPr b="0" dirty="0" sz="1050" i="0" err="1">
                <a:solidFill>
                  <a:srgbClr val="1F2933"/>
                </a:solidFill>
                <a:latin typeface="Arial"/>
              </a:rPr>
              <a:t>WiFi</a:t>
            </a:r>
            <a:endParaRPr b="0" dirty="0" sz="1050" i="0">
              <a:solidFill>
                <a:srgbClr val="1F2933"/>
              </a:solidFill>
              <a:latin typeface="Arial"/>
            </a:endParaRP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Local SLM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  Qwen via llama.cpp</a:t>
            </a:r>
          </a:p>
          <a:p>
            <a:pPr algn="l" indent="-164592" marL="164592">
              <a:spcAft>
                <a:spcPts val="35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Ingestion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  </a:t>
            </a:r>
            <a:r>
              <a:rPr b="0" dirty="0" sz="1050" i="0" err="1">
                <a:solidFill>
                  <a:srgbClr val="1F2933"/>
                </a:solidFill>
                <a:latin typeface="Arial"/>
              </a:rPr>
              <a:t>pdfplumber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, Tesseract, </a:t>
            </a:r>
            <a:r>
              <a:rPr b="0" dirty="0" sz="1050" i="0" err="1">
                <a:solidFill>
                  <a:srgbClr val="1F2933"/>
                </a:solidFill>
                <a:latin typeface="Arial"/>
              </a:rPr>
              <a:t>FFmpeg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, Whisper</a:t>
            </a:r>
          </a:p>
        </p:txBody>
      </p:sp>
      <p:sp>
        <p:nvSpPr>
          <p:cNvPr id="1048708" name="TextBox 130"/>
          <p:cNvSpPr txBox="1"/>
          <p:nvPr/>
        </p:nvSpPr>
        <p:spPr>
          <a:xfrm>
            <a:off x="411480" y="4224528"/>
            <a:ext cx="91440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VOICE PIPELINE: ON-DEVICE SLM FIRST, CLOUD LLM ONLY WHEN NEEDED</a:t>
            </a:r>
          </a:p>
        </p:txBody>
      </p:sp>
      <p:sp>
        <p:nvSpPr>
          <p:cNvPr id="1048709" name="Rounded Rectangle 131"/>
          <p:cNvSpPr/>
          <p:nvPr/>
        </p:nvSpPr>
        <p:spPr>
          <a:xfrm>
            <a:off x="411480" y="455371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10" name="TextBox 132"/>
          <p:cNvSpPr txBox="1"/>
          <p:nvPr/>
        </p:nvSpPr>
        <p:spPr>
          <a:xfrm>
            <a:off x="457200" y="4590288"/>
            <a:ext cx="1536192" cy="8869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050" i="0">
                <a:solidFill>
                  <a:srgbClr val="4A5C68"/>
                </a:solidFill>
                <a:latin typeface="Arial"/>
              </a:rPr>
              <a:t>PIR detects</a:t>
            </a:r>
          </a:p>
          <a:p>
            <a:pPr algn="ctr"/>
            <a:r>
              <a:rPr b="1" sz="1050" i="0">
                <a:solidFill>
                  <a:srgbClr val="4A5C68"/>
                </a:solidFill>
                <a:latin typeface="Arial"/>
              </a:rPr>
              <a:t>presence</a:t>
            </a:r>
          </a:p>
        </p:txBody>
      </p:sp>
      <p:cxnSp>
        <p:nvCxnSpPr>
          <p:cNvPr id="3145730" name="Connector 133"/>
          <p:cNvCxnSpPr>
            <a:cxnSpLocks/>
          </p:cNvCxnSpPr>
          <p:nvPr/>
        </p:nvCxnSpPr>
        <p:spPr>
          <a:xfrm>
            <a:off x="2075688" y="5033772"/>
            <a:ext cx="24688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1" name="Rounded Rectangle 134"/>
          <p:cNvSpPr/>
          <p:nvPr/>
        </p:nvSpPr>
        <p:spPr>
          <a:xfrm>
            <a:off x="2359152" y="455371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12" name="TextBox 135"/>
          <p:cNvSpPr txBox="1"/>
          <p:nvPr/>
        </p:nvSpPr>
        <p:spPr>
          <a:xfrm>
            <a:off x="2404872" y="4590288"/>
            <a:ext cx="1536192" cy="8869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050" i="0">
                <a:solidFill>
                  <a:srgbClr val="4A5C68"/>
                </a:solidFill>
                <a:latin typeface="Arial"/>
              </a:rPr>
              <a:t>Wake word</a:t>
            </a:r>
          </a:p>
          <a:p>
            <a:pPr algn="ctr"/>
            <a:r>
              <a:rPr b="1" sz="1050" i="0">
                <a:solidFill>
                  <a:srgbClr val="4A5C68"/>
                </a:solidFill>
                <a:latin typeface="Arial"/>
              </a:rPr>
              <a:t>detection</a:t>
            </a:r>
          </a:p>
        </p:txBody>
      </p:sp>
      <p:cxnSp>
        <p:nvCxnSpPr>
          <p:cNvPr id="3145731" name="Connector 136"/>
          <p:cNvCxnSpPr>
            <a:cxnSpLocks/>
          </p:cNvCxnSpPr>
          <p:nvPr/>
        </p:nvCxnSpPr>
        <p:spPr>
          <a:xfrm>
            <a:off x="4023360" y="5033772"/>
            <a:ext cx="24688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3" name="Rounded Rectangle 137"/>
          <p:cNvSpPr/>
          <p:nvPr/>
        </p:nvSpPr>
        <p:spPr>
          <a:xfrm>
            <a:off x="4306824" y="455371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14" name="TextBox 138"/>
          <p:cNvSpPr txBox="1"/>
          <p:nvPr/>
        </p:nvSpPr>
        <p:spPr>
          <a:xfrm>
            <a:off x="4352544" y="4590288"/>
            <a:ext cx="1536192" cy="8869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050" i="0">
                <a:solidFill>
                  <a:srgbClr val="2E8B3D"/>
                </a:solidFill>
                <a:latin typeface="Arial"/>
              </a:rPr>
              <a:t>Speech-to-text</a:t>
            </a:r>
          </a:p>
        </p:txBody>
      </p:sp>
      <p:sp>
        <p:nvSpPr>
          <p:cNvPr id="1048715" name="TextBox 139"/>
          <p:cNvSpPr txBox="1"/>
          <p:nvPr/>
        </p:nvSpPr>
        <p:spPr>
          <a:xfrm>
            <a:off x="4306824" y="5550408"/>
            <a:ext cx="1627632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0">
                <a:solidFill>
                  <a:srgbClr val="5B6770"/>
                </a:solidFill>
                <a:latin typeface="Arial"/>
              </a:rPr>
              <a:t>Moonshine offline</a:t>
            </a:r>
          </a:p>
          <a:p>
            <a:pPr algn="ctr"/>
            <a:r>
              <a:rPr b="0" sz="850" i="0">
                <a:solidFill>
                  <a:srgbClr val="5B6770"/>
                </a:solidFill>
                <a:latin typeface="Arial"/>
              </a:rPr>
              <a:t>Whisper online</a:t>
            </a:r>
          </a:p>
        </p:txBody>
      </p:sp>
      <p:cxnSp>
        <p:nvCxnSpPr>
          <p:cNvPr id="3145732" name="Connector 140"/>
          <p:cNvCxnSpPr>
            <a:cxnSpLocks/>
          </p:cNvCxnSpPr>
          <p:nvPr/>
        </p:nvCxnSpPr>
        <p:spPr>
          <a:xfrm>
            <a:off x="5971032" y="5033772"/>
            <a:ext cx="24688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6" name="Rounded Rectangle 141"/>
          <p:cNvSpPr/>
          <p:nvPr/>
        </p:nvSpPr>
        <p:spPr>
          <a:xfrm>
            <a:off x="6254496" y="455371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17" name="TextBox 142"/>
          <p:cNvSpPr txBox="1"/>
          <p:nvPr/>
        </p:nvSpPr>
        <p:spPr>
          <a:xfrm>
            <a:off x="6300216" y="4590288"/>
            <a:ext cx="1536192" cy="8869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050" i="0">
                <a:solidFill>
                  <a:srgbClr val="F47B20"/>
                </a:solidFill>
                <a:latin typeface="Arial"/>
              </a:rPr>
              <a:t>Intent router</a:t>
            </a:r>
          </a:p>
        </p:txBody>
      </p:sp>
      <p:sp>
        <p:nvSpPr>
          <p:cNvPr id="1048718" name="TextBox 143"/>
          <p:cNvSpPr txBox="1"/>
          <p:nvPr/>
        </p:nvSpPr>
        <p:spPr>
          <a:xfrm>
            <a:off x="6254496" y="5550408"/>
            <a:ext cx="1627632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0">
                <a:solidFill>
                  <a:srgbClr val="5B6770"/>
                </a:solidFill>
                <a:latin typeface="Arial"/>
              </a:rPr>
              <a:t>SLM on device</a:t>
            </a:r>
          </a:p>
          <a:p>
            <a:pPr algn="ctr"/>
            <a:r>
              <a:rPr b="0" sz="850" i="0">
                <a:solidFill>
                  <a:srgbClr val="5B6770"/>
                </a:solidFill>
                <a:latin typeface="Arial"/>
              </a:rPr>
              <a:t>cloud LLM if needed</a:t>
            </a:r>
          </a:p>
        </p:txBody>
      </p:sp>
      <p:cxnSp>
        <p:nvCxnSpPr>
          <p:cNvPr id="3145733" name="Connector 144"/>
          <p:cNvCxnSpPr>
            <a:cxnSpLocks/>
          </p:cNvCxnSpPr>
          <p:nvPr/>
        </p:nvCxnSpPr>
        <p:spPr>
          <a:xfrm>
            <a:off x="7918703" y="5033772"/>
            <a:ext cx="246889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9" name="Rounded Rectangle 145"/>
          <p:cNvSpPr/>
          <p:nvPr/>
        </p:nvSpPr>
        <p:spPr>
          <a:xfrm>
            <a:off x="8202167" y="455371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20" name="TextBox 146"/>
          <p:cNvSpPr txBox="1"/>
          <p:nvPr/>
        </p:nvSpPr>
        <p:spPr>
          <a:xfrm>
            <a:off x="8247888" y="4590288"/>
            <a:ext cx="1536192" cy="8869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050" i="0">
                <a:solidFill>
                  <a:srgbClr val="2E8B3D"/>
                </a:solidFill>
                <a:latin typeface="Arial"/>
              </a:rPr>
              <a:t>Text-to-speech</a:t>
            </a:r>
          </a:p>
        </p:txBody>
      </p:sp>
      <p:sp>
        <p:nvSpPr>
          <p:cNvPr id="1048721" name="TextBox 147"/>
          <p:cNvSpPr txBox="1"/>
          <p:nvPr/>
        </p:nvSpPr>
        <p:spPr>
          <a:xfrm>
            <a:off x="8202167" y="5550408"/>
            <a:ext cx="1627632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0">
                <a:solidFill>
                  <a:srgbClr val="5B6770"/>
                </a:solidFill>
                <a:latin typeface="Arial"/>
              </a:rPr>
              <a:t>Kokoro offline</a:t>
            </a:r>
          </a:p>
          <a:p>
            <a:pPr algn="ctr"/>
            <a:r>
              <a:rPr b="0" sz="850" i="0">
                <a:solidFill>
                  <a:srgbClr val="5B6770"/>
                </a:solidFill>
                <a:latin typeface="Arial"/>
              </a:rPr>
              <a:t>ElevenLabs online</a:t>
            </a:r>
          </a:p>
        </p:txBody>
      </p:sp>
      <p:cxnSp>
        <p:nvCxnSpPr>
          <p:cNvPr id="3145734" name="Connector 148"/>
          <p:cNvCxnSpPr>
            <a:cxnSpLocks/>
          </p:cNvCxnSpPr>
          <p:nvPr/>
        </p:nvCxnSpPr>
        <p:spPr>
          <a:xfrm>
            <a:off x="9866375" y="5033772"/>
            <a:ext cx="24688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22" name="Rounded Rectangle 149"/>
          <p:cNvSpPr/>
          <p:nvPr/>
        </p:nvSpPr>
        <p:spPr>
          <a:xfrm>
            <a:off x="10149839" y="4553712"/>
            <a:ext cx="1627632" cy="960120"/>
          </a:xfrm>
          <a:prstGeom prst="roundRect">
            <a:avLst>
              <a:gd name="adj" fmla="val 5714"/>
            </a:avLst>
          </a:prstGeom>
          <a:solidFill>
            <a:srgbClr val="E4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23" name="TextBox 150"/>
          <p:cNvSpPr txBox="1"/>
          <p:nvPr/>
        </p:nvSpPr>
        <p:spPr>
          <a:xfrm>
            <a:off x="10195559" y="4590288"/>
            <a:ext cx="1536192" cy="8869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050" i="0">
                <a:solidFill>
                  <a:srgbClr val="1F3864"/>
                </a:solidFill>
                <a:latin typeface="Arial"/>
              </a:rPr>
              <a:t>Speaker +</a:t>
            </a:r>
          </a:p>
          <a:p>
            <a:pPr algn="ctr"/>
            <a:r>
              <a:rPr b="1" sz="1050" i="0">
                <a:solidFill>
                  <a:srgbClr val="1F3864"/>
                </a:solidFill>
                <a:latin typeface="Arial"/>
              </a:rPr>
              <a:t>face animation</a:t>
            </a:r>
          </a:p>
        </p:txBody>
      </p:sp>
      <p:sp>
        <p:nvSpPr>
          <p:cNvPr id="1048724" name="ModelsHeader"/>
          <p:cNvSpPr txBox="1"/>
          <p:nvPr/>
        </p:nvSpPr>
        <p:spPr>
          <a:xfrm>
            <a:off x="4727448" y="3182112"/>
            <a:ext cx="6839712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ON-DEVICE MODELS</a:t>
            </a:r>
          </a:p>
        </p:txBody>
      </p:sp>
      <p:sp>
        <p:nvSpPr>
          <p:cNvPr id="1048725" name="ModelsColA"/>
          <p:cNvSpPr txBox="1"/>
          <p:nvPr/>
        </p:nvSpPr>
        <p:spPr>
          <a:xfrm>
            <a:off x="4727448" y="3401568"/>
            <a:ext cx="2276856" cy="186354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Kokoro-82M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TTS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Piper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TTS fallback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Moonshine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STT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openWakeWord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wake word</a:t>
            </a:r>
          </a:p>
        </p:txBody>
      </p:sp>
      <p:sp>
        <p:nvSpPr>
          <p:cNvPr id="1048726" name="ModelsColB"/>
          <p:cNvSpPr txBox="1"/>
          <p:nvPr/>
        </p:nvSpPr>
        <p:spPr>
          <a:xfrm>
            <a:off x="7004304" y="3401568"/>
            <a:ext cx="2276856" cy="186354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Silero VAD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voice activity detection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YuNet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face detection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SFace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face recognition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sz="850" i="0">
                <a:solidFill>
                  <a:srgbClr val="1F2933"/>
                </a:solidFill>
                <a:latin typeface="Arial"/>
              </a:rPr>
              <a:t>MobileGaze</a:t>
            </a:r>
            <a:r>
              <a:rPr b="0" sz="850" i="0">
                <a:solidFill>
                  <a:srgbClr val="1F2933"/>
                </a:solidFill>
                <a:latin typeface="Arial"/>
              </a:rPr>
              <a:t>  gaze estimation</a:t>
            </a:r>
          </a:p>
        </p:txBody>
      </p:sp>
      <p:sp>
        <p:nvSpPr>
          <p:cNvPr id="1048727" name="ModelsColC"/>
          <p:cNvSpPr txBox="1"/>
          <p:nvPr/>
        </p:nvSpPr>
        <p:spPr>
          <a:xfrm>
            <a:off x="9281160" y="3401568"/>
            <a:ext cx="2286000" cy="41806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850" i="0">
                <a:solidFill>
                  <a:srgbClr val="1F2933"/>
                </a:solidFill>
                <a:latin typeface="Arial"/>
              </a:rPr>
              <a:t>Tesseract / </a:t>
            </a:r>
            <a:r>
              <a:rPr b="1" dirty="0" sz="850" i="0" err="1">
                <a:solidFill>
                  <a:srgbClr val="1F2933"/>
                </a:solidFill>
                <a:latin typeface="Arial"/>
              </a:rPr>
              <a:t>PaddleOCR</a:t>
            </a:r>
            <a:r>
              <a:rPr b="0" dirty="0" sz="850" i="0">
                <a:solidFill>
                  <a:srgbClr val="1F2933"/>
                </a:solidFill>
                <a:latin typeface="Arial"/>
              </a:rPr>
              <a:t>  OCR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850" i="0">
                <a:solidFill>
                  <a:srgbClr val="1F2933"/>
                </a:solidFill>
                <a:latin typeface="Arial"/>
              </a:rPr>
              <a:t>Qwen</a:t>
            </a:r>
            <a:r>
              <a:rPr b="0" dirty="0" sz="850" i="0">
                <a:solidFill>
                  <a:srgbClr val="1F2933"/>
                </a:solidFill>
                <a:latin typeface="Arial"/>
              </a:rPr>
              <a:t> local SLM, image + text</a:t>
            </a:r>
          </a:p>
          <a:p>
            <a:pPr algn="l" indent="-164592" marL="164592"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b="1" dirty="0" sz="850" i="0">
                <a:solidFill>
                  <a:srgbClr val="1F2933"/>
                </a:solidFill>
                <a:latin typeface="Arial"/>
              </a:rPr>
              <a:t>all-MiniLM-L6-v2</a:t>
            </a:r>
            <a:r>
              <a:rPr b="0" dirty="0" sz="850" i="0">
                <a:solidFill>
                  <a:srgbClr val="1F2933"/>
                </a:solidFill>
                <a:latin typeface="Arial"/>
              </a:rPr>
              <a:t>  embeddings and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112;p3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2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1048733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8734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HackTuah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735" name="Google Shape;117;p3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70" name="Google Shape;118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736" name="TextBox 118"/>
          <p:cNvSpPr txBox="1"/>
          <p:nvPr/>
        </p:nvSpPr>
        <p:spPr>
          <a:xfrm>
            <a:off x="457200" y="1261872"/>
            <a:ext cx="233172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4A5C68"/>
                </a:solidFill>
                <a:latin typeface="Arial"/>
              </a:rPr>
              <a:t>INPUTS</a:t>
            </a:r>
          </a:p>
        </p:txBody>
      </p:sp>
      <p:sp>
        <p:nvSpPr>
          <p:cNvPr id="1048737" name="Rounded Rectangle 119"/>
          <p:cNvSpPr/>
          <p:nvPr/>
        </p:nvSpPr>
        <p:spPr>
          <a:xfrm>
            <a:off x="457200" y="1572768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38" name="TextBox 120"/>
          <p:cNvSpPr txBox="1"/>
          <p:nvPr/>
        </p:nvSpPr>
        <p:spPr>
          <a:xfrm>
            <a:off x="512064" y="1572768"/>
            <a:ext cx="2221991" cy="603504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Microphone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voice commands</a:t>
            </a:r>
          </a:p>
        </p:txBody>
      </p:sp>
      <p:sp>
        <p:nvSpPr>
          <p:cNvPr id="1048739" name="Rounded Rectangle 121"/>
          <p:cNvSpPr/>
          <p:nvPr/>
        </p:nvSpPr>
        <p:spPr>
          <a:xfrm>
            <a:off x="457200" y="2395728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40" name="TextBox 122"/>
          <p:cNvSpPr txBox="1"/>
          <p:nvPr/>
        </p:nvSpPr>
        <p:spPr>
          <a:xfrm>
            <a:off x="512064" y="2395728"/>
            <a:ext cx="2221991" cy="603504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Camera Module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face, gesture, OCR</a:t>
            </a:r>
          </a:p>
        </p:txBody>
      </p:sp>
      <p:sp>
        <p:nvSpPr>
          <p:cNvPr id="1048741" name="Rounded Rectangle 123"/>
          <p:cNvSpPr/>
          <p:nvPr/>
        </p:nvSpPr>
        <p:spPr>
          <a:xfrm>
            <a:off x="457200" y="3218688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42" name="TextBox 124"/>
          <p:cNvSpPr txBox="1"/>
          <p:nvPr/>
        </p:nvSpPr>
        <p:spPr>
          <a:xfrm>
            <a:off x="512064" y="3218688"/>
            <a:ext cx="2221991" cy="603504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PIR Sensor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presence</a:t>
            </a:r>
          </a:p>
        </p:txBody>
      </p:sp>
      <p:sp>
        <p:nvSpPr>
          <p:cNvPr id="1048743" name="Rounded Rectangle 125"/>
          <p:cNvSpPr/>
          <p:nvPr/>
        </p:nvSpPr>
        <p:spPr>
          <a:xfrm>
            <a:off x="457200" y="4041648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44" name="TextBox 126"/>
          <p:cNvSpPr txBox="1"/>
          <p:nvPr/>
        </p:nvSpPr>
        <p:spPr>
          <a:xfrm>
            <a:off x="512064" y="4041648"/>
            <a:ext cx="2221991" cy="603504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Display (touch)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taps and swipes</a:t>
            </a:r>
          </a:p>
        </p:txBody>
      </p:sp>
      <p:sp>
        <p:nvSpPr>
          <p:cNvPr id="1048745" name="Rounded Rectangle 127"/>
          <p:cNvSpPr/>
          <p:nvPr/>
        </p:nvSpPr>
        <p:spPr>
          <a:xfrm>
            <a:off x="4114800" y="1572768"/>
            <a:ext cx="3886200" cy="3072384"/>
          </a:xfrm>
          <a:prstGeom prst="roundRect">
            <a:avLst>
              <a:gd name="adj" fmla="val 1785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46" name="TextBox 128"/>
          <p:cNvSpPr txBox="1"/>
          <p:nvPr/>
        </p:nvSpPr>
        <p:spPr>
          <a:xfrm>
            <a:off x="4297680" y="1645920"/>
            <a:ext cx="3520440" cy="5029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500" i="0">
                <a:solidFill>
                  <a:srgbClr val="FFFFFF"/>
                </a:solidFill>
                <a:latin typeface="Arial"/>
              </a:rPr>
              <a:t>RASPBERRY PI 5</a:t>
            </a:r>
          </a:p>
          <a:p>
            <a:pPr algn="ctr"/>
            <a:r>
              <a:rPr b="0" sz="950" i="0">
                <a:solidFill>
                  <a:srgbClr val="C9D6EA"/>
                </a:solidFill>
                <a:latin typeface="Arial"/>
              </a:rPr>
              <a:t>FastAPI backend, all processing on-device</a:t>
            </a:r>
          </a:p>
        </p:txBody>
      </p:sp>
      <p:sp>
        <p:nvSpPr>
          <p:cNvPr id="1048747" name="Rounded Rectangle 129"/>
          <p:cNvSpPr/>
          <p:nvPr/>
        </p:nvSpPr>
        <p:spPr>
          <a:xfrm>
            <a:off x="4343400" y="230428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48" name="TextBox 130"/>
          <p:cNvSpPr txBox="1"/>
          <p:nvPr/>
        </p:nvSpPr>
        <p:spPr>
          <a:xfrm>
            <a:off x="4389120" y="2304288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STT / TTS engine</a:t>
            </a:r>
          </a:p>
        </p:txBody>
      </p:sp>
      <p:sp>
        <p:nvSpPr>
          <p:cNvPr id="1048749" name="Rounded Rectangle 131"/>
          <p:cNvSpPr/>
          <p:nvPr/>
        </p:nvSpPr>
        <p:spPr>
          <a:xfrm>
            <a:off x="6126480" y="230428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50" name="TextBox 132"/>
          <p:cNvSpPr txBox="1"/>
          <p:nvPr/>
        </p:nvSpPr>
        <p:spPr>
          <a:xfrm>
            <a:off x="6172200" y="2304288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Vision (OpenCV)</a:t>
            </a:r>
          </a:p>
        </p:txBody>
      </p:sp>
      <p:sp>
        <p:nvSpPr>
          <p:cNvPr id="1048751" name="Rounded Rectangle 133"/>
          <p:cNvSpPr/>
          <p:nvPr/>
        </p:nvSpPr>
        <p:spPr>
          <a:xfrm>
            <a:off x="4343400" y="287121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52" name="TextBox 134"/>
          <p:cNvSpPr txBox="1"/>
          <p:nvPr/>
        </p:nvSpPr>
        <p:spPr>
          <a:xfrm>
            <a:off x="4389120" y="2871216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On-device SLM (llama.cpp)</a:t>
            </a:r>
          </a:p>
        </p:txBody>
      </p:sp>
      <p:sp>
        <p:nvSpPr>
          <p:cNvPr id="1048753" name="Rounded Rectangle 135"/>
          <p:cNvSpPr/>
          <p:nvPr/>
        </p:nvSpPr>
        <p:spPr>
          <a:xfrm>
            <a:off x="6126480" y="287121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54" name="TextBox 136"/>
          <p:cNvSpPr txBox="1"/>
          <p:nvPr/>
        </p:nvSpPr>
        <p:spPr>
          <a:xfrm>
            <a:off x="6172200" y="2871216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Scheduler and timers</a:t>
            </a:r>
          </a:p>
        </p:txBody>
      </p:sp>
      <p:sp>
        <p:nvSpPr>
          <p:cNvPr id="1048755" name="Rounded Rectangle 137"/>
          <p:cNvSpPr/>
          <p:nvPr/>
        </p:nvSpPr>
        <p:spPr>
          <a:xfrm>
            <a:off x="4343400" y="3438144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56" name="TextBox 138"/>
          <p:cNvSpPr txBox="1"/>
          <p:nvPr/>
        </p:nvSpPr>
        <p:spPr>
          <a:xfrm>
            <a:off x="4389120" y="3438144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SQLite database</a:t>
            </a:r>
          </a:p>
        </p:txBody>
      </p:sp>
      <p:sp>
        <p:nvSpPr>
          <p:cNvPr id="1048757" name="Rounded Rectangle 139"/>
          <p:cNvSpPr/>
          <p:nvPr/>
        </p:nvSpPr>
        <p:spPr>
          <a:xfrm>
            <a:off x="6126480" y="3438144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58" name="TextBox 140"/>
          <p:cNvSpPr txBox="1"/>
          <p:nvPr/>
        </p:nvSpPr>
        <p:spPr>
          <a:xfrm>
            <a:off x="6172200" y="3438144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Student persona model</a:t>
            </a:r>
          </a:p>
        </p:txBody>
      </p:sp>
      <p:cxnSp>
        <p:nvCxnSpPr>
          <p:cNvPr id="3145735" name="Connector 141"/>
          <p:cNvCxnSpPr>
            <a:cxnSpLocks/>
          </p:cNvCxnSpPr>
          <p:nvPr/>
        </p:nvCxnSpPr>
        <p:spPr>
          <a:xfrm>
            <a:off x="2825496" y="1874519"/>
            <a:ext cx="125272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59" name="TextBox 142"/>
          <p:cNvSpPr txBox="1"/>
          <p:nvPr/>
        </p:nvSpPr>
        <p:spPr>
          <a:xfrm>
            <a:off x="2880360" y="1600199"/>
            <a:ext cx="114300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audio</a:t>
            </a:r>
          </a:p>
        </p:txBody>
      </p:sp>
      <p:cxnSp>
        <p:nvCxnSpPr>
          <p:cNvPr id="3145736" name="Connector 143"/>
          <p:cNvCxnSpPr>
            <a:cxnSpLocks/>
          </p:cNvCxnSpPr>
          <p:nvPr/>
        </p:nvCxnSpPr>
        <p:spPr>
          <a:xfrm>
            <a:off x="2825496" y="2697480"/>
            <a:ext cx="125272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60" name="TextBox 144"/>
          <p:cNvSpPr txBox="1"/>
          <p:nvPr/>
        </p:nvSpPr>
        <p:spPr>
          <a:xfrm>
            <a:off x="2880360" y="2423160"/>
            <a:ext cx="114300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video</a:t>
            </a:r>
          </a:p>
        </p:txBody>
      </p:sp>
      <p:cxnSp>
        <p:nvCxnSpPr>
          <p:cNvPr id="3145737" name="Connector 145"/>
          <p:cNvCxnSpPr>
            <a:cxnSpLocks/>
          </p:cNvCxnSpPr>
          <p:nvPr/>
        </p:nvCxnSpPr>
        <p:spPr>
          <a:xfrm>
            <a:off x="2825496" y="3520440"/>
            <a:ext cx="125272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61" name="TextBox 146"/>
          <p:cNvSpPr txBox="1"/>
          <p:nvPr/>
        </p:nvSpPr>
        <p:spPr>
          <a:xfrm>
            <a:off x="2880360" y="3246120"/>
            <a:ext cx="114300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signal</a:t>
            </a:r>
          </a:p>
        </p:txBody>
      </p:sp>
      <p:cxnSp>
        <p:nvCxnSpPr>
          <p:cNvPr id="3145738" name="Connector 147"/>
          <p:cNvCxnSpPr>
            <a:cxnSpLocks/>
          </p:cNvCxnSpPr>
          <p:nvPr/>
        </p:nvCxnSpPr>
        <p:spPr>
          <a:xfrm>
            <a:off x="2825496" y="4343400"/>
            <a:ext cx="125272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62" name="TextBox 148"/>
          <p:cNvSpPr txBox="1"/>
          <p:nvPr/>
        </p:nvSpPr>
        <p:spPr>
          <a:xfrm>
            <a:off x="2880360" y="4069080"/>
            <a:ext cx="114300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touch</a:t>
            </a:r>
          </a:p>
        </p:txBody>
      </p:sp>
      <p:sp>
        <p:nvSpPr>
          <p:cNvPr id="1048763" name="TextBox 149"/>
          <p:cNvSpPr txBox="1"/>
          <p:nvPr/>
        </p:nvSpPr>
        <p:spPr>
          <a:xfrm>
            <a:off x="9372600" y="1261872"/>
            <a:ext cx="23774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4A5C68"/>
                </a:solidFill>
                <a:latin typeface="Arial"/>
              </a:rPr>
              <a:t>OUTPUTS</a:t>
            </a:r>
          </a:p>
        </p:txBody>
      </p:sp>
      <p:sp>
        <p:nvSpPr>
          <p:cNvPr id="1048764" name="Rounded Rectangle 150"/>
          <p:cNvSpPr/>
          <p:nvPr/>
        </p:nvSpPr>
        <p:spPr>
          <a:xfrm>
            <a:off x="9372600" y="173736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65" name="TextBox 151"/>
          <p:cNvSpPr txBox="1"/>
          <p:nvPr/>
        </p:nvSpPr>
        <p:spPr>
          <a:xfrm>
            <a:off x="9427464" y="1737360"/>
            <a:ext cx="2267712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Display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animated face + UI</a:t>
            </a:r>
          </a:p>
        </p:txBody>
      </p:sp>
      <p:cxnSp>
        <p:nvCxnSpPr>
          <p:cNvPr id="3145739" name="Connector 152"/>
          <p:cNvCxnSpPr>
            <a:cxnSpLocks/>
          </p:cNvCxnSpPr>
          <p:nvPr/>
        </p:nvCxnSpPr>
        <p:spPr>
          <a:xfrm>
            <a:off x="8037575" y="2066544"/>
            <a:ext cx="1298449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66" name="TextBox 153"/>
          <p:cNvSpPr txBox="1"/>
          <p:nvPr/>
        </p:nvSpPr>
        <p:spPr>
          <a:xfrm>
            <a:off x="8092440" y="1792224"/>
            <a:ext cx="118872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face + UI</a:t>
            </a:r>
          </a:p>
        </p:txBody>
      </p:sp>
      <p:sp>
        <p:nvSpPr>
          <p:cNvPr id="1048767" name="Rounded Rectangle 154"/>
          <p:cNvSpPr/>
          <p:nvPr/>
        </p:nvSpPr>
        <p:spPr>
          <a:xfrm>
            <a:off x="9372600" y="2779776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68" name="TextBox 155"/>
          <p:cNvSpPr txBox="1"/>
          <p:nvPr/>
        </p:nvSpPr>
        <p:spPr>
          <a:xfrm>
            <a:off x="9427464" y="2779776"/>
            <a:ext cx="2267712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Speaker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TTS replies</a:t>
            </a:r>
          </a:p>
        </p:txBody>
      </p:sp>
      <p:cxnSp>
        <p:nvCxnSpPr>
          <p:cNvPr id="3145740" name="Connector 156"/>
          <p:cNvCxnSpPr>
            <a:cxnSpLocks/>
          </p:cNvCxnSpPr>
          <p:nvPr/>
        </p:nvCxnSpPr>
        <p:spPr>
          <a:xfrm>
            <a:off x="8037575" y="3108960"/>
            <a:ext cx="1298449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69" name="TextBox 157"/>
          <p:cNvSpPr txBox="1"/>
          <p:nvPr/>
        </p:nvSpPr>
        <p:spPr>
          <a:xfrm>
            <a:off x="8092440" y="2834640"/>
            <a:ext cx="118872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TTS audio</a:t>
            </a:r>
          </a:p>
        </p:txBody>
      </p:sp>
      <p:sp>
        <p:nvSpPr>
          <p:cNvPr id="1048770" name="Rounded Rectangle 158"/>
          <p:cNvSpPr/>
          <p:nvPr/>
        </p:nvSpPr>
        <p:spPr>
          <a:xfrm>
            <a:off x="9372600" y="3822191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71" name="TextBox 159"/>
          <p:cNvSpPr txBox="1"/>
          <p:nvPr/>
        </p:nvSpPr>
        <p:spPr>
          <a:xfrm>
            <a:off x="9427464" y="3822191"/>
            <a:ext cx="2267712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1" sz="1100" i="0">
                <a:solidFill>
                  <a:srgbClr val="1F2933"/>
                </a:solidFill>
                <a:latin typeface="Arial"/>
              </a:rPr>
              <a:t>Servos</a:t>
            </a:r>
          </a:p>
          <a:p>
            <a:pPr algn="ctr"/>
            <a:r>
              <a:rPr b="0" sz="950" i="0">
                <a:solidFill>
                  <a:srgbClr val="1F2933"/>
                </a:solidFill>
                <a:latin typeface="Arial"/>
              </a:rPr>
              <a:t>head and body motion</a:t>
            </a:r>
          </a:p>
        </p:txBody>
      </p:sp>
      <p:cxnSp>
        <p:nvCxnSpPr>
          <p:cNvPr id="3145741" name="Connector 160"/>
          <p:cNvCxnSpPr>
            <a:cxnSpLocks/>
          </p:cNvCxnSpPr>
          <p:nvPr/>
        </p:nvCxnSpPr>
        <p:spPr>
          <a:xfrm>
            <a:off x="8037575" y="4151376"/>
            <a:ext cx="1298449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72" name="TextBox 161"/>
          <p:cNvSpPr txBox="1"/>
          <p:nvPr/>
        </p:nvSpPr>
        <p:spPr>
          <a:xfrm>
            <a:off x="8092440" y="3877056"/>
            <a:ext cx="1188720" cy="237744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850" i="1">
                <a:solidFill>
                  <a:srgbClr val="5B6770"/>
                </a:solidFill>
                <a:latin typeface="Arial"/>
              </a:rPr>
              <a:t>PWM</a:t>
            </a:r>
          </a:p>
        </p:txBody>
      </p:sp>
      <p:sp>
        <p:nvSpPr>
          <p:cNvPr id="1048773" name="Rounded Rectangle 162"/>
          <p:cNvSpPr/>
          <p:nvPr/>
        </p:nvSpPr>
        <p:spPr>
          <a:xfrm>
            <a:off x="3771900" y="530352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E9F2FB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74" name="TextBox 163"/>
          <p:cNvSpPr txBox="1"/>
          <p:nvPr/>
        </p:nvSpPr>
        <p:spPr>
          <a:xfrm>
            <a:off x="3954780" y="5376672"/>
            <a:ext cx="4206240" cy="76809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spcAft>
                <a:spcPts val="200"/>
              </a:spcAft>
            </a:pPr>
            <a:r>
              <a:rPr b="1" sz="1250" i="0">
                <a:solidFill>
                  <a:srgbClr val="0070C0"/>
                </a:solidFill>
                <a:latin typeface="Arial"/>
              </a:rPr>
              <a:t>PARENT DASHBOARD</a:t>
            </a:r>
          </a:p>
          <a:p>
            <a:pPr algn="ctr"/>
            <a:r>
              <a:rPr b="0" sz="1000" i="0">
                <a:solidFill>
                  <a:srgbClr val="1F2933"/>
                </a:solidFill>
                <a:latin typeface="Arial"/>
              </a:rPr>
              <a:t>React + Vite web app on any laptop or phone browser</a:t>
            </a:r>
          </a:p>
          <a:p>
            <a:pPr algn="ctr"/>
            <a:r>
              <a:rPr b="0" sz="1000" i="0">
                <a:solidFill>
                  <a:srgbClr val="5B6770"/>
                </a:solidFill>
                <a:latin typeface="Arial"/>
              </a:rPr>
              <a:t>KPI charts, study insights, uploads, parental controls</a:t>
            </a:r>
          </a:p>
        </p:txBody>
      </p:sp>
      <p:cxnSp>
        <p:nvCxnSpPr>
          <p:cNvPr id="3145742" name="Connector 164"/>
          <p:cNvCxnSpPr>
            <a:cxnSpLocks/>
          </p:cNvCxnSpPr>
          <p:nvPr/>
        </p:nvCxnSpPr>
        <p:spPr>
          <a:xfrm>
            <a:off x="6057900" y="4681728"/>
            <a:ext cx="0" cy="585216"/>
          </a:xfrm>
          <a:prstGeom prst="line"/>
          <a:ln w="22225">
            <a:solidFill>
              <a:srgbClr val="0070C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75" name="TextBox 165"/>
          <p:cNvSpPr txBox="1"/>
          <p:nvPr/>
        </p:nvSpPr>
        <p:spPr>
          <a:xfrm>
            <a:off x="6167628" y="4791456"/>
            <a:ext cx="292608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900" i="1">
                <a:solidFill>
                  <a:srgbClr val="0070C0"/>
                </a:solidFill>
                <a:latin typeface="Arial"/>
              </a:rPr>
              <a:t>local WiFi, REST API + WebSocket</a:t>
            </a:r>
          </a:p>
        </p:txBody>
      </p:sp>
      <p:sp>
        <p:nvSpPr>
          <p:cNvPr id="1048776" name="TextBox 166"/>
          <p:cNvSpPr txBox="1"/>
          <p:nvPr/>
        </p:nvSpPr>
        <p:spPr>
          <a:xfrm>
            <a:off x="457200" y="5349240"/>
            <a:ext cx="3108960" cy="914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No cloud dependency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Sensors, the language model and every record live on the Pi. The cloud is called only for hard questions.</a:t>
            </a:r>
          </a:p>
        </p:txBody>
      </p:sp>
      <p:sp>
        <p:nvSpPr>
          <p:cNvPr id="1048777" name="TextBox 167"/>
          <p:cNvSpPr txBox="1"/>
          <p:nvPr/>
        </p:nvSpPr>
        <p:spPr>
          <a:xfrm>
            <a:off x="8823960" y="5349240"/>
            <a:ext cx="3154680" cy="914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00" i="0">
                <a:solidFill>
                  <a:srgbClr val="1F3864"/>
                </a:solidFill>
                <a:latin typeface="Arial"/>
              </a:rPr>
              <a:t>Live state over WebSocket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Face expression, listening status and timer state stream to the dashboard in real time.</a:t>
            </a:r>
          </a:p>
        </p:txBody>
      </p:sp>
      <p:sp>
        <p:nvSpPr>
          <p:cNvPr id="1048778" name="Rounded Rectangle 137 r4"/>
          <p:cNvSpPr/>
          <p:nvPr/>
        </p:nvSpPr>
        <p:spPr>
          <a:xfrm>
            <a:off x="4343400" y="400507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79" name="TextBox 138 r4"/>
          <p:cNvSpPr txBox="1"/>
          <p:nvPr/>
        </p:nvSpPr>
        <p:spPr>
          <a:xfrm>
            <a:off x="4389120" y="4005072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Escalation router</a:t>
            </a:r>
          </a:p>
        </p:txBody>
      </p:sp>
      <p:sp>
        <p:nvSpPr>
          <p:cNvPr id="1048780" name="Rounded Rectangle 139 r4"/>
          <p:cNvSpPr/>
          <p:nvPr/>
        </p:nvSpPr>
        <p:spPr>
          <a:xfrm>
            <a:off x="6126480" y="400507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81" name="TextBox 140 r4"/>
          <p:cNvSpPr txBox="1"/>
          <p:nvPr/>
        </p:nvSpPr>
        <p:spPr>
          <a:xfrm>
            <a:off x="6172200" y="4005072"/>
            <a:ext cx="1554480" cy="45720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/>
            <a:r>
              <a:rPr b="0" sz="950" i="0">
                <a:solidFill>
                  <a:srgbClr val="FFFFFF"/>
                </a:solidFill>
                <a:latin typeface="Arial"/>
              </a:rPr>
              <a:t>Query scrubber + cloud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Google Shape;124;p4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3" name="Google Shape;125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048784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cap="none" sz="1200" i="0" lang="en-US" strike="noStrike" u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b="1" cap="none" sz="1200" i="0" strike="noStrike" u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8785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cap="none" sz="1200" i="0" lang="en-US" strike="noStrike" u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HackTuah</a:t>
            </a:r>
            <a:endParaRPr b="0" cap="none" sz="1200" i="0" strike="noStrike" u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8786" name="Google Shape;129;p4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71" name="Google Shape;130;p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787" name="Rounded Rectangle 130"/>
          <p:cNvSpPr/>
          <p:nvPr/>
        </p:nvSpPr>
        <p:spPr>
          <a:xfrm>
            <a:off x="411480" y="1325880"/>
            <a:ext cx="3611880" cy="4846320"/>
          </a:xfrm>
          <a:prstGeom prst="roundRect">
            <a:avLst>
              <a:gd name="adj" fmla="val 1518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88" name="Oval 131"/>
          <p:cNvSpPr/>
          <p:nvPr/>
        </p:nvSpPr>
        <p:spPr>
          <a:xfrm>
            <a:off x="612648" y="1527048"/>
            <a:ext cx="384048" cy="384048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72" name="Picture 132" descr="check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4819" y="1619219"/>
            <a:ext cx="199704" cy="199704"/>
          </a:xfrm>
          <a:prstGeom prst="rect"/>
        </p:spPr>
      </p:pic>
      <p:sp>
        <p:nvSpPr>
          <p:cNvPr id="1048789" name="TextBox 133"/>
          <p:cNvSpPr txBox="1"/>
          <p:nvPr/>
        </p:nvSpPr>
        <p:spPr>
          <a:xfrm>
            <a:off x="1106424" y="1527048"/>
            <a:ext cx="2715768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Why it is feasible</a:t>
            </a:r>
          </a:p>
        </p:txBody>
      </p:sp>
      <p:sp>
        <p:nvSpPr>
          <p:cNvPr id="1048790" name="TextBox 134"/>
          <p:cNvSpPr txBox="1"/>
          <p:nvPr/>
        </p:nvSpPr>
        <p:spPr>
          <a:xfrm>
            <a:off x="612648" y="2039112"/>
            <a:ext cx="3209544" cy="5232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dirty="0" sz="2400" lang="en-US">
                <a:solidFill>
                  <a:srgbClr val="2E8B3D"/>
                </a:solidFill>
              </a:rPr>
              <a:t>A</a:t>
            </a:r>
            <a:r>
              <a:rPr b="1" dirty="0" sz="2400" i="0">
                <a:solidFill>
                  <a:srgbClr val="2E8B3D"/>
                </a:solidFill>
                <a:latin typeface="Arial"/>
              </a:rPr>
              <a:t>ffordable</a:t>
            </a:r>
          </a:p>
          <a:p>
            <a:pPr algn="l"/>
            <a:r>
              <a:rPr b="0" dirty="0" sz="1000" i="0">
                <a:solidFill>
                  <a:srgbClr val="5B6770"/>
                </a:solidFill>
                <a:latin typeface="Arial"/>
              </a:rPr>
              <a:t>total bill of materials per unit</a:t>
            </a:r>
          </a:p>
        </p:txBody>
      </p:sp>
      <p:sp>
        <p:nvSpPr>
          <p:cNvPr id="1048791" name="TextBox 135"/>
          <p:cNvSpPr txBox="1"/>
          <p:nvPr/>
        </p:nvSpPr>
        <p:spPr>
          <a:xfrm>
            <a:off x="612648" y="2999232"/>
            <a:ext cx="3209544" cy="305226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Off-the-shelf parts: 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everything is commercially available; Pi, camera and servos in hand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Fully open-source stack: 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Python, FastAPI, OpenCV, Moonshine, Kokoro, llama.cpp, React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Huge Pi community: 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documented drivers for every peripheral used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Works without internet: 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the on-device SLM answers everyday questions offline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1" dirty="0" sz="1050" i="0">
                <a:solidFill>
                  <a:srgbClr val="1F2933"/>
                </a:solidFill>
                <a:latin typeface="Arial"/>
              </a:rPr>
              <a:t>Own it forever: </a:t>
            </a:r>
            <a:r>
              <a:rPr b="0" dirty="0" sz="1050" i="0">
                <a:solidFill>
                  <a:srgbClr val="1F2933"/>
                </a:solidFill>
                <a:latin typeface="Arial"/>
              </a:rPr>
              <a:t>the local SLM is a one-time cost, while cloud API bills compound over time</a:t>
            </a:r>
          </a:p>
        </p:txBody>
      </p:sp>
      <p:sp>
        <p:nvSpPr>
          <p:cNvPr id="1048792" name="TextBox 136"/>
          <p:cNvSpPr txBox="1"/>
          <p:nvPr/>
        </p:nvSpPr>
        <p:spPr>
          <a:xfrm>
            <a:off x="612648" y="5029200"/>
            <a:ext cx="1513332" cy="914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200" i="0">
                <a:solidFill>
                  <a:srgbClr val="2E8B3D"/>
                </a:solidFill>
                <a:latin typeface="Arial"/>
              </a:rPr>
              <a:t>Rs 0/mo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recurring AI cost offline</a:t>
            </a:r>
          </a:p>
        </p:txBody>
      </p:sp>
      <p:sp>
        <p:nvSpPr>
          <p:cNvPr id="1048793" name="TextBox 137"/>
          <p:cNvSpPr txBox="1"/>
          <p:nvPr/>
        </p:nvSpPr>
        <p:spPr>
          <a:xfrm>
            <a:off x="2217420" y="5029200"/>
            <a:ext cx="1513332" cy="914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200" i="0">
                <a:solidFill>
                  <a:srgbClr val="2E8B3D"/>
                </a:solidFill>
                <a:latin typeface="Arial"/>
              </a:rPr>
              <a:t>0</a:t>
            </a:r>
          </a:p>
          <a:p>
            <a:pPr algn="l"/>
            <a:r>
              <a:rPr b="0" sz="950" i="0">
                <a:solidFill>
                  <a:srgbClr val="5B6770"/>
                </a:solidFill>
                <a:latin typeface="Arial"/>
              </a:rPr>
              <a:t>personal records in cloud</a:t>
            </a:r>
          </a:p>
        </p:txBody>
      </p:sp>
      <p:sp>
        <p:nvSpPr>
          <p:cNvPr id="1048794" name="TextBox 138"/>
          <p:cNvSpPr txBox="1"/>
          <p:nvPr/>
        </p:nvSpPr>
        <p:spPr>
          <a:xfrm>
            <a:off x="4251960" y="1261872"/>
            <a:ext cx="338328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F47B20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048795" name="TextBox 139"/>
          <p:cNvSpPr txBox="1"/>
          <p:nvPr/>
        </p:nvSpPr>
        <p:spPr>
          <a:xfrm>
            <a:off x="8019288" y="1261872"/>
            <a:ext cx="3749039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050" i="0">
                <a:solidFill>
                  <a:srgbClr val="0070C0"/>
                </a:solidFill>
                <a:latin typeface="Arial"/>
              </a:rPr>
              <a:t>STRATEGIES FOR OVERCOMING THEM</a:t>
            </a:r>
          </a:p>
        </p:txBody>
      </p:sp>
      <p:sp>
        <p:nvSpPr>
          <p:cNvPr id="1048796" name="Rounded Rectangle 140"/>
          <p:cNvSpPr/>
          <p:nvPr/>
        </p:nvSpPr>
        <p:spPr>
          <a:xfrm>
            <a:off x="4251960" y="1600200"/>
            <a:ext cx="3383280" cy="1005840"/>
          </a:xfrm>
          <a:prstGeom prst="roundRect">
            <a:avLst>
              <a:gd name="adj" fmla="val 5454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97" name="TextBox 141"/>
          <p:cNvSpPr txBox="1"/>
          <p:nvPr/>
        </p:nvSpPr>
        <p:spPr>
          <a:xfrm>
            <a:off x="4416552" y="1673352"/>
            <a:ext cx="305409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1F3864"/>
                </a:solidFill>
                <a:latin typeface="Arial"/>
              </a:rPr>
              <a:t>Compute limits on Pi 5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Vision, STT, TTS and the SLM compete for CPU.</a:t>
            </a:r>
          </a:p>
        </p:txBody>
      </p:sp>
      <p:cxnSp>
        <p:nvCxnSpPr>
          <p:cNvPr id="3145743" name="Connector 142"/>
          <p:cNvCxnSpPr>
            <a:cxnSpLocks/>
          </p:cNvCxnSpPr>
          <p:nvPr/>
        </p:nvCxnSpPr>
        <p:spPr>
          <a:xfrm>
            <a:off x="7680960" y="2103120"/>
            <a:ext cx="29260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98" name="Rounded Rectangle 143"/>
          <p:cNvSpPr/>
          <p:nvPr/>
        </p:nvSpPr>
        <p:spPr>
          <a:xfrm>
            <a:off x="8019288" y="1600200"/>
            <a:ext cx="3749039" cy="1005840"/>
          </a:xfrm>
          <a:prstGeom prst="roundRect">
            <a:avLst>
              <a:gd name="adj" fmla="val 5454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799" name="TextBox 144"/>
          <p:cNvSpPr txBox="1"/>
          <p:nvPr/>
        </p:nvSpPr>
        <p:spPr>
          <a:xfrm>
            <a:off x="8183880" y="1673352"/>
            <a:ext cx="341985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0070C0"/>
                </a:solidFill>
                <a:latin typeface="Arial"/>
              </a:rPr>
              <a:t>Lightweight models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YuNet and SFace for vision, Moonshine for speech, a 0.8B 4-bit SLM; heavy jobs run on demand.</a:t>
            </a:r>
          </a:p>
        </p:txBody>
      </p:sp>
      <p:sp>
        <p:nvSpPr>
          <p:cNvPr id="1048800" name="Rounded Rectangle 145"/>
          <p:cNvSpPr/>
          <p:nvPr/>
        </p:nvSpPr>
        <p:spPr>
          <a:xfrm>
            <a:off x="4251960" y="2756916"/>
            <a:ext cx="3383280" cy="1005840"/>
          </a:xfrm>
          <a:prstGeom prst="roundRect">
            <a:avLst>
              <a:gd name="adj" fmla="val 5454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01" name="TextBox 146"/>
          <p:cNvSpPr txBox="1"/>
          <p:nvPr/>
        </p:nvSpPr>
        <p:spPr>
          <a:xfrm>
            <a:off x="4416552" y="2830068"/>
            <a:ext cx="305409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1F3864"/>
                </a:solidFill>
                <a:latin typeface="Arial"/>
              </a:rPr>
              <a:t>Voice latency offline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Local STT / TTS is slower than cloud.</a:t>
            </a:r>
          </a:p>
        </p:txBody>
      </p:sp>
      <p:cxnSp>
        <p:nvCxnSpPr>
          <p:cNvPr id="3145744" name="Connector 147"/>
          <p:cNvCxnSpPr>
            <a:cxnSpLocks/>
          </p:cNvCxnSpPr>
          <p:nvPr/>
        </p:nvCxnSpPr>
        <p:spPr>
          <a:xfrm>
            <a:off x="7680960" y="3259836"/>
            <a:ext cx="29260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02" name="Rounded Rectangle 148"/>
          <p:cNvSpPr/>
          <p:nvPr/>
        </p:nvSpPr>
        <p:spPr>
          <a:xfrm>
            <a:off x="8019288" y="2756916"/>
            <a:ext cx="3749039" cy="1005840"/>
          </a:xfrm>
          <a:prstGeom prst="roundRect">
            <a:avLst>
              <a:gd name="adj" fmla="val 5454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03" name="TextBox 149"/>
          <p:cNvSpPr txBox="1"/>
          <p:nvPr/>
        </p:nvSpPr>
        <p:spPr>
          <a:xfrm>
            <a:off x="8183880" y="2830068"/>
            <a:ext cx="341985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0070C0"/>
                </a:solidFill>
                <a:latin typeface="Arial"/>
              </a:rPr>
              <a:t>Wake-word gating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Listen for the wake word only, then stream short utterances; pre-cache common replies.</a:t>
            </a:r>
          </a:p>
        </p:txBody>
      </p:sp>
      <p:sp>
        <p:nvSpPr>
          <p:cNvPr id="1048804" name="Rounded Rectangle 150"/>
          <p:cNvSpPr/>
          <p:nvPr/>
        </p:nvSpPr>
        <p:spPr>
          <a:xfrm>
            <a:off x="4251960" y="3913632"/>
            <a:ext cx="3383280" cy="1005840"/>
          </a:xfrm>
          <a:prstGeom prst="roundRect">
            <a:avLst>
              <a:gd name="adj" fmla="val 5454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05" name="TextBox 151"/>
          <p:cNvSpPr txBox="1"/>
          <p:nvPr/>
        </p:nvSpPr>
        <p:spPr>
          <a:xfrm>
            <a:off x="4416552" y="3986784"/>
            <a:ext cx="305409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1F3864"/>
                </a:solidFill>
                <a:latin typeface="Arial"/>
              </a:rPr>
              <a:t>Child data privacy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Face, voice and study patterns are sensitive, and cloud APIs see every query.</a:t>
            </a:r>
          </a:p>
        </p:txBody>
      </p:sp>
      <p:cxnSp>
        <p:nvCxnSpPr>
          <p:cNvPr id="3145745" name="Connector 152"/>
          <p:cNvCxnSpPr>
            <a:cxnSpLocks/>
          </p:cNvCxnSpPr>
          <p:nvPr/>
        </p:nvCxnSpPr>
        <p:spPr>
          <a:xfrm>
            <a:off x="7680960" y="4416552"/>
            <a:ext cx="29260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06" name="Rounded Rectangle 153"/>
          <p:cNvSpPr/>
          <p:nvPr/>
        </p:nvSpPr>
        <p:spPr>
          <a:xfrm>
            <a:off x="8019288" y="3913632"/>
            <a:ext cx="3749039" cy="1005840"/>
          </a:xfrm>
          <a:prstGeom prst="roundRect">
            <a:avLst>
              <a:gd name="adj" fmla="val 5454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07" name="TextBox 154"/>
          <p:cNvSpPr txBox="1"/>
          <p:nvPr/>
        </p:nvSpPr>
        <p:spPr>
          <a:xfrm>
            <a:off x="8183880" y="3986784"/>
            <a:ext cx="341985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0070C0"/>
                </a:solidFill>
                <a:latin typeface="Arial"/>
              </a:rPr>
              <a:t>On-device by default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Scheduling and persona modelling stay on the Pi; cloud queries are anonymised first; dashboard is local-network only.</a:t>
            </a:r>
          </a:p>
        </p:txBody>
      </p:sp>
      <p:sp>
        <p:nvSpPr>
          <p:cNvPr id="1048808" name="Rounded Rectangle 155"/>
          <p:cNvSpPr/>
          <p:nvPr/>
        </p:nvSpPr>
        <p:spPr>
          <a:xfrm>
            <a:off x="4251960" y="5070348"/>
            <a:ext cx="3383280" cy="1005840"/>
          </a:xfrm>
          <a:prstGeom prst="roundRect">
            <a:avLst>
              <a:gd name="adj" fmla="val 5454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09" name="TextBox 156"/>
          <p:cNvSpPr txBox="1"/>
          <p:nvPr/>
        </p:nvSpPr>
        <p:spPr>
          <a:xfrm>
            <a:off x="4416552" y="5143500"/>
            <a:ext cx="305409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1F3864"/>
                </a:solidFill>
                <a:latin typeface="Arial"/>
              </a:rPr>
              <a:t>Heat and power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Sustained load inside an enclosure throttles the Pi.</a:t>
            </a:r>
          </a:p>
        </p:txBody>
      </p:sp>
      <p:cxnSp>
        <p:nvCxnSpPr>
          <p:cNvPr id="3145746" name="Connector 157"/>
          <p:cNvCxnSpPr>
            <a:cxnSpLocks/>
          </p:cNvCxnSpPr>
          <p:nvPr/>
        </p:nvCxnSpPr>
        <p:spPr>
          <a:xfrm>
            <a:off x="7680960" y="5573268"/>
            <a:ext cx="292608" cy="0"/>
          </a:xfrm>
          <a:prstGeom prst="line"/>
          <a:ln w="19050">
            <a:solidFill>
              <a:srgbClr val="4A5C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10" name="Rounded Rectangle 158"/>
          <p:cNvSpPr/>
          <p:nvPr/>
        </p:nvSpPr>
        <p:spPr>
          <a:xfrm>
            <a:off x="8019288" y="5070348"/>
            <a:ext cx="3749039" cy="1005840"/>
          </a:xfrm>
          <a:prstGeom prst="roundRect">
            <a:avLst>
              <a:gd name="adj" fmla="val 5454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11" name="TextBox 159"/>
          <p:cNvSpPr txBox="1"/>
          <p:nvPr/>
        </p:nvSpPr>
        <p:spPr>
          <a:xfrm>
            <a:off x="8183880" y="5143500"/>
            <a:ext cx="3419856" cy="859536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spcAft>
                <a:spcPts val="200"/>
              </a:spcAft>
            </a:pPr>
            <a:r>
              <a:rPr b="1" sz="1150" i="0">
                <a:solidFill>
                  <a:srgbClr val="0070C0"/>
                </a:solidFill>
                <a:latin typeface="Arial"/>
              </a:rPr>
              <a:t>Thermal design</a:t>
            </a:r>
          </a:p>
          <a:p>
            <a:pPr algn="l"/>
            <a:r>
              <a:rPr b="0" sz="1000" i="0">
                <a:solidFill>
                  <a:srgbClr val="1F2933"/>
                </a:solidFill>
                <a:latin typeface="Arial"/>
              </a:rPr>
              <a:t>Heatsink plus fan, vented shell, duty-cycled servos instead of continuous 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Google Shape;136;p5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16" name="Google Shape;13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048817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cap="none" sz="1200" i="0" lang="en-US" strike="noStrike" u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8</a:t>
            </a:fld>
            <a:endParaRPr b="1" cap="none" sz="1200" i="0" strike="noStrike" u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8818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cap="none" sz="1200" i="0" lang="en-US" strike="noStrike" u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HackTuah</a:t>
            </a:r>
            <a:endParaRPr b="0" cap="none" sz="1200" i="0" strike="noStrike" u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8819" name="Google Shape;141;p5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73" name="Google Shape;142;p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820" name="Rounded Rectangle 142"/>
          <p:cNvSpPr/>
          <p:nvPr/>
        </p:nvSpPr>
        <p:spPr>
          <a:xfrm>
            <a:off x="411480" y="1325880"/>
            <a:ext cx="11365992" cy="868680"/>
          </a:xfrm>
          <a:prstGeom prst="roundRect">
            <a:avLst>
              <a:gd name="adj" fmla="val 6315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21" name="TextBox 143"/>
          <p:cNvSpPr txBox="1"/>
          <p:nvPr/>
        </p:nvSpPr>
        <p:spPr>
          <a:xfrm>
            <a:off x="640080" y="1325880"/>
            <a:ext cx="2103120" cy="8686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150" i="0">
                <a:solidFill>
                  <a:srgbClr val="FFFFFF"/>
                </a:solidFill>
                <a:latin typeface="Arial"/>
              </a:rPr>
              <a:t>TARGET AUDIENCE</a:t>
            </a:r>
          </a:p>
        </p:txBody>
      </p:sp>
      <p:sp>
        <p:nvSpPr>
          <p:cNvPr id="1048822" name="TextBox 144"/>
          <p:cNvSpPr txBox="1"/>
          <p:nvPr/>
        </p:nvSpPr>
        <p:spPr>
          <a:xfrm>
            <a:off x="2743200" y="1325880"/>
            <a:ext cx="4480560" cy="8686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100" i="0">
                <a:solidFill>
                  <a:srgbClr val="FFC48C"/>
                </a:solidFill>
                <a:latin typeface="Arial"/>
              </a:rPr>
              <a:t>Primary  </a:t>
            </a:r>
            <a:r>
              <a:rPr b="0" sz="1100" i="0">
                <a:solidFill>
                  <a:srgbClr val="FFFFFF"/>
                </a:solidFill>
                <a:latin typeface="Arial"/>
              </a:rPr>
              <a:t>K-12 and college students who self-study at home</a:t>
            </a:r>
          </a:p>
        </p:txBody>
      </p:sp>
      <p:sp>
        <p:nvSpPr>
          <p:cNvPr id="1048823" name="TextBox 145"/>
          <p:cNvSpPr txBox="1"/>
          <p:nvPr/>
        </p:nvSpPr>
        <p:spPr>
          <a:xfrm>
            <a:off x="7315200" y="1325880"/>
            <a:ext cx="4297680" cy="8686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100" i="0">
                <a:solidFill>
                  <a:srgbClr val="9FD9A6"/>
                </a:solidFill>
                <a:latin typeface="Arial"/>
              </a:rPr>
              <a:t>Secondary  </a:t>
            </a:r>
            <a:r>
              <a:rPr b="0" sz="1100" i="0">
                <a:solidFill>
                  <a:srgbClr val="FFFFFF"/>
                </a:solidFill>
                <a:latin typeface="Arial"/>
              </a:rPr>
              <a:t>parents, teachers, coaching centres and libraries</a:t>
            </a:r>
          </a:p>
        </p:txBody>
      </p:sp>
      <p:sp>
        <p:nvSpPr>
          <p:cNvPr id="1048824" name="Rounded Rectangle 146"/>
          <p:cNvSpPr/>
          <p:nvPr/>
        </p:nvSpPr>
        <p:spPr>
          <a:xfrm>
            <a:off x="411480" y="2395728"/>
            <a:ext cx="2724912" cy="3776472"/>
          </a:xfrm>
          <a:prstGeom prst="roundRect">
            <a:avLst>
              <a:gd name="adj" fmla="val 2013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25" name="Oval 147"/>
          <p:cNvSpPr/>
          <p:nvPr/>
        </p:nvSpPr>
        <p:spPr>
          <a:xfrm>
            <a:off x="612648" y="2596896"/>
            <a:ext cx="384048" cy="384048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74" name="Picture 148" descr="gra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4819" y="2689067"/>
            <a:ext cx="199704" cy="199704"/>
          </a:xfrm>
          <a:prstGeom prst="rect"/>
        </p:spPr>
      </p:pic>
      <p:sp>
        <p:nvSpPr>
          <p:cNvPr id="1048826" name="TextBox 149"/>
          <p:cNvSpPr txBox="1"/>
          <p:nvPr/>
        </p:nvSpPr>
        <p:spPr>
          <a:xfrm>
            <a:off x="1106424" y="2596896"/>
            <a:ext cx="182880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Educational</a:t>
            </a:r>
          </a:p>
        </p:txBody>
      </p:sp>
      <p:sp>
        <p:nvSpPr>
          <p:cNvPr id="1048827" name="TextBox 150"/>
          <p:cNvSpPr txBox="1"/>
          <p:nvPr/>
        </p:nvSpPr>
        <p:spPr>
          <a:xfrm>
            <a:off x="612648" y="3108960"/>
            <a:ext cx="2322576" cy="2211019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Dedicated, distraction-free study companion replaces passive screen time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Spaced repetition and revision scheduling improve long-term retention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Active-recall quizzes built from the student's own notes</a:t>
            </a:r>
          </a:p>
          <a:p>
            <a:pPr algn="l" indent="-164592" marL="164592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Adaptive difficulty keeps every age group engaged</a:t>
            </a:r>
          </a:p>
        </p:txBody>
      </p:sp>
      <p:sp>
        <p:nvSpPr>
          <p:cNvPr id="1048828" name="TextBox 151"/>
          <p:cNvSpPr txBox="1"/>
          <p:nvPr/>
        </p:nvSpPr>
        <p:spPr>
          <a:xfrm>
            <a:off x="612648" y="5349240"/>
            <a:ext cx="2322576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850" i="0">
                <a:solidFill>
                  <a:srgbClr val="0070C0"/>
                </a:solidFill>
                <a:latin typeface="Arial"/>
              </a:rPr>
              <a:t>OUTCOME</a:t>
            </a:r>
          </a:p>
          <a:p>
            <a:pPr algn="l"/>
            <a:r>
              <a:rPr b="1" sz="1100" i="0">
                <a:solidFill>
                  <a:srgbClr val="1F3864"/>
                </a:solidFill>
                <a:latin typeface="Arial"/>
              </a:rPr>
              <a:t>Higher retention, less last-minute cramming</a:t>
            </a:r>
          </a:p>
        </p:txBody>
      </p:sp>
      <p:sp>
        <p:nvSpPr>
          <p:cNvPr id="1048829" name="Rounded Rectangle 152"/>
          <p:cNvSpPr/>
          <p:nvPr/>
        </p:nvSpPr>
        <p:spPr>
          <a:xfrm>
            <a:off x="3291840" y="2395728"/>
            <a:ext cx="2724912" cy="3776472"/>
          </a:xfrm>
          <a:prstGeom prst="roundRect">
            <a:avLst>
              <a:gd name="adj" fmla="val 2013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30" name="Oval 153"/>
          <p:cNvSpPr/>
          <p:nvPr/>
        </p:nvSpPr>
        <p:spPr>
          <a:xfrm>
            <a:off x="3493008" y="2596896"/>
            <a:ext cx="384048" cy="384048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75" name="Picture 154" descr="users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585179" y="2689067"/>
            <a:ext cx="199704" cy="199704"/>
          </a:xfrm>
          <a:prstGeom prst="rect"/>
        </p:spPr>
      </p:pic>
      <p:sp>
        <p:nvSpPr>
          <p:cNvPr id="1048831" name="TextBox 155"/>
          <p:cNvSpPr txBox="1"/>
          <p:nvPr/>
        </p:nvSpPr>
        <p:spPr>
          <a:xfrm>
            <a:off x="3986784" y="2596896"/>
            <a:ext cx="182880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Social</a:t>
            </a:r>
          </a:p>
        </p:txBody>
      </p:sp>
      <p:sp>
        <p:nvSpPr>
          <p:cNvPr id="1048832" name="TextBox 156"/>
          <p:cNvSpPr txBox="1"/>
          <p:nvPr/>
        </p:nvSpPr>
        <p:spPr>
          <a:xfrm>
            <a:off x="3493008" y="3108960"/>
            <a:ext cx="2322576" cy="2211019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Bridges the parent-student gap with insight, not surveillance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Physical, expressive companion supports students who study alone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Group and competitive modes encourage peer learning</a:t>
            </a:r>
          </a:p>
          <a:p>
            <a:pPr algn="l" indent="-164592" marL="164592">
              <a:spcAft>
                <a:spcPts val="500"/>
              </a:spcAft>
              <a:buClr>
                <a:srgbClr val="F47B20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Works in Hindi and regional languages through Moonshine and Kokoro</a:t>
            </a:r>
          </a:p>
        </p:txBody>
      </p:sp>
      <p:sp>
        <p:nvSpPr>
          <p:cNvPr id="1048833" name="TextBox 157"/>
          <p:cNvSpPr txBox="1"/>
          <p:nvPr/>
        </p:nvSpPr>
        <p:spPr>
          <a:xfrm>
            <a:off x="3493008" y="5349240"/>
            <a:ext cx="2322576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850" i="0">
                <a:solidFill>
                  <a:srgbClr val="F47B20"/>
                </a:solidFill>
                <a:latin typeface="Arial"/>
              </a:rPr>
              <a:t>OUTCOME</a:t>
            </a:r>
          </a:p>
          <a:p>
            <a:pPr algn="l"/>
            <a:r>
              <a:rPr b="1" sz="1100" i="0">
                <a:solidFill>
                  <a:srgbClr val="1F3864"/>
                </a:solidFill>
                <a:latin typeface="Arial"/>
              </a:rPr>
              <a:t>Trust between parents and students</a:t>
            </a:r>
          </a:p>
        </p:txBody>
      </p:sp>
      <p:sp>
        <p:nvSpPr>
          <p:cNvPr id="1048834" name="Rounded Rectangle 158"/>
          <p:cNvSpPr/>
          <p:nvPr/>
        </p:nvSpPr>
        <p:spPr>
          <a:xfrm>
            <a:off x="6172200" y="2395728"/>
            <a:ext cx="2724912" cy="3776472"/>
          </a:xfrm>
          <a:prstGeom prst="roundRect">
            <a:avLst>
              <a:gd name="adj" fmla="val 2013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35" name="Oval 159"/>
          <p:cNvSpPr/>
          <p:nvPr/>
        </p:nvSpPr>
        <p:spPr>
          <a:xfrm>
            <a:off x="6373368" y="2596896"/>
            <a:ext cx="384048" cy="384048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76" name="Picture 160" descr="rupe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65539" y="2689067"/>
            <a:ext cx="199704" cy="199704"/>
          </a:xfrm>
          <a:prstGeom prst="rect"/>
        </p:spPr>
      </p:pic>
      <p:sp>
        <p:nvSpPr>
          <p:cNvPr id="1048836" name="TextBox 161"/>
          <p:cNvSpPr txBox="1"/>
          <p:nvPr/>
        </p:nvSpPr>
        <p:spPr>
          <a:xfrm>
            <a:off x="6867144" y="2596896"/>
            <a:ext cx="182880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Economic</a:t>
            </a:r>
          </a:p>
        </p:txBody>
      </p:sp>
      <p:sp>
        <p:nvSpPr>
          <p:cNvPr id="1048837" name="TextBox 162"/>
          <p:cNvSpPr txBox="1"/>
          <p:nvPr/>
        </p:nvSpPr>
        <p:spPr>
          <a:xfrm>
            <a:off x="6373368" y="3108960"/>
            <a:ext cx="2322576" cy="2211019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Low bill of materials makes it affordable for middle-income Indian homes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Offline-first design serves areas with poor connectivity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Scales to schools, libraries and government learning centres with minimal infrastructure</a:t>
            </a:r>
          </a:p>
          <a:p>
            <a:pPr algn="l" indent="-164592" marL="164592">
              <a:spcAft>
                <a:spcPts val="500"/>
              </a:spcAft>
              <a:buClr>
                <a:srgbClr val="2E8B3D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Replaces paid apps and subscriptions; no recurring AI bill</a:t>
            </a:r>
          </a:p>
        </p:txBody>
      </p:sp>
      <p:sp>
        <p:nvSpPr>
          <p:cNvPr id="1048838" name="TextBox 163"/>
          <p:cNvSpPr txBox="1"/>
          <p:nvPr/>
        </p:nvSpPr>
        <p:spPr>
          <a:xfrm>
            <a:off x="6373368" y="5349240"/>
            <a:ext cx="2322576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850" i="0">
                <a:solidFill>
                  <a:srgbClr val="2E8B3D"/>
                </a:solidFill>
                <a:latin typeface="Arial"/>
              </a:rPr>
              <a:t>OUTCOME</a:t>
            </a:r>
          </a:p>
          <a:p>
            <a:pPr algn="l"/>
            <a:r>
              <a:rPr b="1" sz="1100" i="0">
                <a:solidFill>
                  <a:srgbClr val="1F3864"/>
                </a:solidFill>
                <a:latin typeface="Arial"/>
              </a:rPr>
              <a:t>Affordable and deployable at scale</a:t>
            </a:r>
          </a:p>
        </p:txBody>
      </p:sp>
      <p:sp>
        <p:nvSpPr>
          <p:cNvPr id="1048839" name="Rounded Rectangle 164"/>
          <p:cNvSpPr/>
          <p:nvPr/>
        </p:nvSpPr>
        <p:spPr>
          <a:xfrm>
            <a:off x="9052559" y="2395728"/>
            <a:ext cx="2724912" cy="3776472"/>
          </a:xfrm>
          <a:prstGeom prst="roundRect">
            <a:avLst>
              <a:gd name="adj" fmla="val 2013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40" name="Oval 165"/>
          <p:cNvSpPr/>
          <p:nvPr/>
        </p:nvSpPr>
        <p:spPr>
          <a:xfrm>
            <a:off x="9253728" y="2596896"/>
            <a:ext cx="384048" cy="384048"/>
          </a:xfrm>
          <a:prstGeom prst="ellipse"/>
          <a:solidFill>
            <a:srgbClr val="4A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77" name="Picture 166" descr="heart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345899" y="2689067"/>
            <a:ext cx="199704" cy="199704"/>
          </a:xfrm>
          <a:prstGeom prst="rect"/>
        </p:spPr>
      </p:pic>
      <p:sp>
        <p:nvSpPr>
          <p:cNvPr id="1048841" name="TextBox 167"/>
          <p:cNvSpPr txBox="1"/>
          <p:nvPr/>
        </p:nvSpPr>
        <p:spPr>
          <a:xfrm>
            <a:off x="9747503" y="2596896"/>
            <a:ext cx="182880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Wellness</a:t>
            </a:r>
          </a:p>
        </p:txBody>
      </p:sp>
      <p:sp>
        <p:nvSpPr>
          <p:cNvPr id="1048842" name="TextBox 168"/>
          <p:cNvSpPr txBox="1"/>
          <p:nvPr/>
        </p:nvSpPr>
        <p:spPr>
          <a:xfrm>
            <a:off x="9253728" y="3108960"/>
            <a:ext cx="2322576" cy="2211019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Hydration, posture and break reminders reduce strain during long sessions</a:t>
            </a:r>
          </a:p>
          <a:p>
            <a:pPr algn="l" indent="-164592" marL="164592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Fatigue cues trigger a break or a lighter activity</a:t>
            </a:r>
          </a:p>
          <a:p>
            <a:pPr algn="l" indent="-164592" marL="164592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Personas and story mode make studying feel less like a chore</a:t>
            </a:r>
          </a:p>
          <a:p>
            <a:pPr algn="l" indent="-164592" marL="164592">
              <a:spcAft>
                <a:spcPts val="500"/>
              </a:spcAft>
              <a:buClr>
                <a:srgbClr val="4A5C68"/>
              </a:buClr>
              <a:buFont typeface="Arial"/>
              <a:buChar char="•"/>
            </a:pPr>
            <a:r>
              <a:rPr b="0" sz="1050" i="0">
                <a:solidFill>
                  <a:srgbClr val="1F2933"/>
                </a:solidFill>
                <a:latin typeface="Arial"/>
              </a:rPr>
              <a:t>No doom-scrolling: the companion has no social feed</a:t>
            </a:r>
          </a:p>
        </p:txBody>
      </p:sp>
      <p:sp>
        <p:nvSpPr>
          <p:cNvPr id="1048843" name="TextBox 169"/>
          <p:cNvSpPr txBox="1"/>
          <p:nvPr/>
        </p:nvSpPr>
        <p:spPr>
          <a:xfrm>
            <a:off x="9253728" y="5349240"/>
            <a:ext cx="2322576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spcAft>
                <a:spcPts val="100"/>
              </a:spcAft>
            </a:pPr>
            <a:r>
              <a:rPr b="1" sz="850" i="0">
                <a:solidFill>
                  <a:srgbClr val="4A5C68"/>
                </a:solidFill>
                <a:latin typeface="Arial"/>
              </a:rPr>
              <a:t>OUTCOME</a:t>
            </a:r>
          </a:p>
          <a:p>
            <a:pPr algn="l"/>
            <a:r>
              <a:rPr b="1" sz="1100" i="0">
                <a:solidFill>
                  <a:srgbClr val="1F3864"/>
                </a:solidFill>
                <a:latin typeface="Arial"/>
              </a:rPr>
              <a:t>Healthier, sustainable study habits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Google Shape;148;p6"/>
          <p:cNvSpPr/>
          <p:nvPr/>
        </p:nvSpPr>
        <p:spPr>
          <a:xfrm>
            <a:off x="0" y="6354762"/>
            <a:ext cx="12191999" cy="503238"/>
          </a:xfrm>
          <a:prstGeom prst="rect"/>
          <a:solidFill>
            <a:srgbClr val="0070C0"/>
          </a:solidFill>
          <a:ln>
            <a:noFill/>
          </a:ln>
          <a:effectLst>
            <a:outerShdw dir="5400000" dist="23000" rotWithShape="0">
              <a:srgbClr val="80808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b="0" cap="none" sz="1800" i="0" strike="noStrike" u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8" name="Google Shape;149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sz="3400">
                <a:solidFill>
                  <a:srgbClr val="1F3864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048849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cap="none" sz="1200" i="0" lang="en-US" strike="noStrike" u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9</a:t>
            </a:fld>
            <a:endParaRPr b="1" cap="none" sz="1200" i="0" strike="noStrike" u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8850" name="Google Shape;15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cap="none" sz="1200" i="0" lang="en-US" strike="noStrike" u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HackTuah</a:t>
            </a:r>
            <a:endParaRPr b="0" cap="none" sz="1200" i="0" strike="noStrike" u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8851" name="Google Shape;153;p6" descr="Your startup LOGO"/>
          <p:cNvSpPr/>
          <p:nvPr/>
        </p:nvSpPr>
        <p:spPr>
          <a:xfrm>
            <a:off x="329775" y="252250"/>
            <a:ext cx="1724700" cy="811500"/>
          </a:xfrm>
          <a:prstGeom prst="ellipse"/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HackTuah</a:t>
            </a: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78" name="Google Shape;154;p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  <a:noFill/>
          <a:ln>
            <a:noFill/>
          </a:ln>
        </p:spPr>
      </p:pic>
      <p:sp>
        <p:nvSpPr>
          <p:cNvPr id="1048852" name="Rounded Rectangle 154"/>
          <p:cNvSpPr/>
          <p:nvPr/>
        </p:nvSpPr>
        <p:spPr>
          <a:xfrm>
            <a:off x="411480" y="1325880"/>
            <a:ext cx="3685032" cy="4846320"/>
          </a:xfrm>
          <a:prstGeom prst="roundRect">
            <a:avLst>
              <a:gd name="adj" fmla="val 1488"/>
            </a:avLst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53" name="Oval 155"/>
          <p:cNvSpPr/>
          <p:nvPr/>
        </p:nvSpPr>
        <p:spPr>
          <a:xfrm>
            <a:off x="612648" y="1527048"/>
            <a:ext cx="384048" cy="384048"/>
          </a:xfrm>
          <a:prstGeom prst="ellipse"/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79" name="Picture 156" descr="book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4819" y="1619219"/>
            <a:ext cx="199704" cy="199704"/>
          </a:xfrm>
          <a:prstGeom prst="rect"/>
        </p:spPr>
      </p:pic>
      <p:sp>
        <p:nvSpPr>
          <p:cNvPr id="1048854" name="TextBox 157"/>
          <p:cNvSpPr txBox="1"/>
          <p:nvPr/>
        </p:nvSpPr>
        <p:spPr>
          <a:xfrm>
            <a:off x="1106424" y="1527048"/>
            <a:ext cx="278892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Learning Science</a:t>
            </a:r>
          </a:p>
        </p:txBody>
      </p:sp>
      <p:sp>
        <p:nvSpPr>
          <p:cNvPr id="1048855" name="TextBox 158"/>
          <p:cNvSpPr txBox="1"/>
          <p:nvPr/>
        </p:nvSpPr>
        <p:spPr>
          <a:xfrm>
            <a:off x="612648" y="2039112"/>
            <a:ext cx="3282696" cy="401238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Pomodoro Technique.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Cirillo, F. (2006). The Pomodoro Technique.</a:t>
            </a:r>
          </a:p>
          <a:p>
            <a:pPr algn="l" indent="-164592" marL="164592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b="0" sz="900" i="0">
                <a:solidFill>
                  <a:srgbClr val="0070C0"/>
                </a:solidFill>
                <a:latin typeface="Arial"/>
                <a:hlinkClick r:id="rId3"/>
              </a:rPr>
              <a:t>pomodorotechnique.com</a:t>
            </a:r>
          </a:p>
          <a:p>
            <a:pPr algn="l" indent="-164592" marL="164592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Spacing and retention.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Cepeda et al. (2006). Distributed practice in verbal recall tasks. Psychological Bulletin.</a:t>
            </a:r>
          </a:p>
          <a:p>
            <a:pPr algn="l" indent="-164592" marL="164592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b="0" sz="900" i="0">
                <a:solidFill>
                  <a:srgbClr val="0070C0"/>
                </a:solidFill>
                <a:latin typeface="Arial"/>
                <a:hlinkClick r:id="rId4"/>
              </a:rPr>
              <a:t>doi.org/10.1037/0033-2909.132.3.354</a:t>
            </a:r>
          </a:p>
          <a:p>
            <a:pPr algn="l" indent="-164592" marL="164592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Active recall.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Roediger and Karpicke (2006). Test-enhanced learning. Psychological Science.</a:t>
            </a:r>
          </a:p>
          <a:p>
            <a:pPr algn="l" indent="-164592" marL="164592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b="0" sz="900" i="0">
                <a:solidFill>
                  <a:srgbClr val="0070C0"/>
                </a:solidFill>
                <a:latin typeface="Arial"/>
                <a:hlinkClick r:id="rId5"/>
              </a:rPr>
              <a:t>doi.org/10.1111/j.1467-9280.2006.01693.x</a:t>
            </a:r>
          </a:p>
          <a:p>
            <a:pPr algn="l" indent="-164592" marL="164592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Forgetting curve.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Ebbinghaus, H. (1885). Memory: A contribution to experimental psychology.</a:t>
            </a:r>
          </a:p>
          <a:p>
            <a:pPr algn="l" indent="-164592" marL="164592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b="0" sz="900" i="0">
                <a:solidFill>
                  <a:srgbClr val="0070C0"/>
                </a:solidFill>
                <a:latin typeface="Arial"/>
                <a:hlinkClick r:id="rId6"/>
              </a:rPr>
              <a:t>psychclassics.yorku.ca/Ebbinghaus/index.htm</a:t>
            </a:r>
          </a:p>
          <a:p>
            <a:pPr algn="l" indent="-164592" marL="164592">
              <a:spcAft>
                <a:spcPts val="0"/>
              </a:spcAft>
              <a:buClr>
                <a:srgbClr val="0070C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Policy.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National Education Policy 2020, Ministry of Education, Govt. of India.</a:t>
            </a:r>
          </a:p>
          <a:p>
            <a:pPr algn="l" indent="-164592" marL="164592">
              <a:spcAft>
                <a:spcPts val="900"/>
              </a:spcAft>
              <a:buClr>
                <a:srgbClr val="E9F2FB"/>
              </a:buClr>
              <a:buFont typeface="Arial"/>
              <a:buChar char=" "/>
            </a:pPr>
            <a:r>
              <a:rPr b="0" sz="900" i="0">
                <a:solidFill>
                  <a:srgbClr val="0070C0"/>
                </a:solidFill>
                <a:latin typeface="Arial"/>
                <a:hlinkClick r:id="rId7"/>
              </a:rPr>
              <a:t>static.pib.gov.in/WriteReadData/userfiles/NEP_Final_English_0.pdf</a:t>
            </a:r>
          </a:p>
        </p:txBody>
      </p:sp>
      <p:sp>
        <p:nvSpPr>
          <p:cNvPr id="1048856" name="Rounded Rectangle 159"/>
          <p:cNvSpPr/>
          <p:nvPr/>
        </p:nvSpPr>
        <p:spPr>
          <a:xfrm>
            <a:off x="4251960" y="1325880"/>
            <a:ext cx="3685032" cy="4846320"/>
          </a:xfrm>
          <a:prstGeom prst="roundRect">
            <a:avLst>
              <a:gd name="adj" fmla="val 1488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57" name="Oval 160"/>
          <p:cNvSpPr/>
          <p:nvPr/>
        </p:nvSpPr>
        <p:spPr>
          <a:xfrm>
            <a:off x="4453128" y="1527048"/>
            <a:ext cx="384048" cy="384048"/>
          </a:xfrm>
          <a:prstGeom prst="ellipse"/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80" name="Picture 161" descr="cod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4545299" y="1619219"/>
            <a:ext cx="199704" cy="199704"/>
          </a:xfrm>
          <a:prstGeom prst="rect"/>
        </p:spPr>
      </p:pic>
      <p:sp>
        <p:nvSpPr>
          <p:cNvPr id="1048858" name="TextBox 162"/>
          <p:cNvSpPr txBox="1"/>
          <p:nvPr/>
        </p:nvSpPr>
        <p:spPr>
          <a:xfrm>
            <a:off x="4946904" y="1527048"/>
            <a:ext cx="278892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Technology</a:t>
            </a:r>
          </a:p>
        </p:txBody>
      </p:sp>
      <p:sp>
        <p:nvSpPr>
          <p:cNvPr id="1048859" name="TextBox 163"/>
          <p:cNvSpPr txBox="1"/>
          <p:nvPr/>
        </p:nvSpPr>
        <p:spPr>
          <a:xfrm>
            <a:off x="4453128" y="2039112"/>
            <a:ext cx="3282696" cy="401238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Qwen3.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Alibaba. Open-weight small language models for on-device use.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9"/>
              </a:rPr>
              <a:t>github.com/QwenLM/Qwen3</a:t>
            </a:r>
          </a:p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llama.cpp.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Quantised LLM inference in C/C++ on CPU.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10"/>
              </a:rPr>
              <a:t>github.com/ggml-org/llama.cpp</a:t>
            </a:r>
          </a:p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Kokoro-82M.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Open-weight neural TTS, 82M parameters, 8 languages.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11"/>
              </a:rPr>
              <a:t>huggingface.co/hexgrad/Kokoro-82M</a:t>
            </a:r>
          </a:p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Moonshine.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Useful Sensors. Real-time on-device speech recognition.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12"/>
              </a:rPr>
              <a:t>github.com/usefulsensors/moonshine</a:t>
            </a:r>
          </a:p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OpenCV Zoo.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YuNet face detection and SFace face recognition.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13"/>
              </a:rPr>
              <a:t>github.com/opencv/opencv_zoo</a:t>
            </a:r>
          </a:p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piper-tts.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Rhasspy. Fast neural TTS fallback for Raspberry Pi.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14"/>
              </a:rPr>
              <a:t>github.com/rhasspy/piper</a:t>
            </a:r>
          </a:p>
          <a:p>
            <a:pPr algn="l" indent="-164592" marL="164592">
              <a:spcAft>
                <a:spcPts val="0"/>
              </a:spcAft>
              <a:buClr>
                <a:srgbClr val="F47B20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Raspberry Pi docs.</a:t>
            </a:r>
            <a:r>
              <a:rPr b="0" sz="1050" i="0">
                <a:solidFill>
                  <a:srgbClr val="1F2933"/>
                </a:solidFill>
                <a:latin typeface="Arial"/>
              </a:rPr>
              <a:t> Camera, GPIO and PWM servo control.</a:t>
            </a:r>
          </a:p>
          <a:p>
            <a:pPr algn="l" indent="-164592" marL="164592">
              <a:spcAft>
                <a:spcPts val="900"/>
              </a:spcAft>
              <a:buClr>
                <a:srgbClr val="FDEFE2"/>
              </a:buClr>
              <a:buFont typeface="Arial"/>
              <a:buChar char=" "/>
            </a:pPr>
            <a:r>
              <a:rPr b="0" sz="900" i="0">
                <a:solidFill>
                  <a:srgbClr val="F47B20"/>
                </a:solidFill>
                <a:latin typeface="Arial"/>
                <a:hlinkClick r:id="rId15"/>
              </a:rPr>
              <a:t>raspberrypi.com/documentation</a:t>
            </a:r>
          </a:p>
        </p:txBody>
      </p:sp>
      <p:sp>
        <p:nvSpPr>
          <p:cNvPr id="1048860" name="Rounded Rectangle 164"/>
          <p:cNvSpPr/>
          <p:nvPr/>
        </p:nvSpPr>
        <p:spPr>
          <a:xfrm>
            <a:off x="8092440" y="1325880"/>
            <a:ext cx="3685032" cy="4846320"/>
          </a:xfrm>
          <a:prstGeom prst="roundRect">
            <a:avLst>
              <a:gd name="adj" fmla="val 1488"/>
            </a:avLst>
          </a:prstGeom>
          <a:solidFill>
            <a:srgbClr val="E9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861" name="Oval 165"/>
          <p:cNvSpPr/>
          <p:nvPr/>
        </p:nvSpPr>
        <p:spPr>
          <a:xfrm>
            <a:off x="8293608" y="1527048"/>
            <a:ext cx="384048" cy="384048"/>
          </a:xfrm>
          <a:prstGeom prst="ellipse"/>
          <a:solidFill>
            <a:srgbClr val="2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0" lIns="0" rIns="0" rtlCol="0" tIns="0"/>
          <a:p>
            <a:pPr algn="ctr"/>
          </a:p>
        </p:txBody>
      </p:sp>
      <p:pic>
        <p:nvPicPr>
          <p:cNvPr id="2097181" name="Picture 166" descr="robot.png"/>
          <p:cNvPicPr>
            <a:picLocks noChangeAspect="1"/>
          </p:cNvPicPr>
          <p:nvPr/>
        </p:nvPicPr>
        <p:blipFill>
          <a:blip xmlns:r="http://schemas.openxmlformats.org/officeDocument/2006/relationships" r:embed="rId16"/>
          <a:stretch>
            <a:fillRect/>
          </a:stretch>
        </p:blipFill>
        <p:spPr>
          <a:xfrm>
            <a:off x="8385779" y="1619219"/>
            <a:ext cx="199704" cy="199704"/>
          </a:xfrm>
          <a:prstGeom prst="rect"/>
        </p:spPr>
      </p:pic>
      <p:sp>
        <p:nvSpPr>
          <p:cNvPr id="1048862" name="TextBox 167"/>
          <p:cNvSpPr txBox="1"/>
          <p:nvPr/>
        </p:nvSpPr>
        <p:spPr>
          <a:xfrm>
            <a:off x="8787384" y="1527048"/>
            <a:ext cx="2788920" cy="38404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/>
            <a:r>
              <a:rPr b="1" sz="1300" i="0">
                <a:solidFill>
                  <a:srgbClr val="1F3864"/>
                </a:solidFill>
                <a:latin typeface="Arial"/>
              </a:rPr>
              <a:t>Comparable Products</a:t>
            </a:r>
          </a:p>
        </p:txBody>
      </p:sp>
      <p:sp>
        <p:nvSpPr>
          <p:cNvPr id="1048863" name="TextBox 168"/>
          <p:cNvSpPr txBox="1"/>
          <p:nvPr/>
        </p:nvSpPr>
        <p:spPr>
          <a:xfrm>
            <a:off x="8293608" y="2039112"/>
            <a:ext cx="3282696" cy="4012387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 indent="-164592" marL="164592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Miko (India). </a:t>
            </a:r>
            <a:r>
              <a:rPr b="0" sz="1050" i="0">
                <a:solidFill>
                  <a:srgbClr val="1F2933"/>
                </a:solidFill>
                <a:latin typeface="Arial"/>
              </a:rPr>
              <a:t>Companion robot for kids; cloud-dependent, no study workflow or OCR.</a:t>
            </a:r>
          </a:p>
          <a:p>
            <a:pPr algn="l" indent="-164592" marL="164592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b="0" sz="900" i="0">
                <a:solidFill>
                  <a:srgbClr val="2E8B3D"/>
                </a:solidFill>
                <a:latin typeface="Arial"/>
                <a:hlinkClick r:id="rId17"/>
              </a:rPr>
              <a:t>miko.ai</a:t>
            </a:r>
          </a:p>
          <a:p>
            <a:pPr algn="l" indent="-164592" marL="164592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Amazon Echo Show Kids. </a:t>
            </a:r>
            <a:r>
              <a:rPr b="0" sz="1050" i="0">
                <a:solidFill>
                  <a:srgbClr val="1F2933"/>
                </a:solidFill>
                <a:latin typeface="Arial"/>
              </a:rPr>
              <a:t>Voice-first, no physical expressiveness or study tracking.</a:t>
            </a:r>
          </a:p>
          <a:p>
            <a:pPr algn="l" indent="-164592" marL="164592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b="0" sz="900" i="0">
                <a:solidFill>
                  <a:srgbClr val="2E8B3D"/>
                </a:solidFill>
                <a:latin typeface="Arial"/>
                <a:hlinkClick r:id="rId18"/>
              </a:rPr>
              <a:t>amazon.in</a:t>
            </a:r>
          </a:p>
          <a:p>
            <a:pPr algn="l" indent="-164592" marL="164592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Wonder Workshop Cue. </a:t>
            </a:r>
            <a:r>
              <a:rPr b="0" sz="1050" i="0">
                <a:solidFill>
                  <a:srgbClr val="1F2933"/>
                </a:solidFill>
                <a:latin typeface="Arial"/>
              </a:rPr>
              <a:t>Coding-focused robot, not a study companion.</a:t>
            </a:r>
          </a:p>
          <a:p>
            <a:pPr algn="l" indent="-164592" marL="164592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b="0" sz="900" i="0">
                <a:solidFill>
                  <a:srgbClr val="2E8B3D"/>
                </a:solidFill>
                <a:latin typeface="Arial"/>
                <a:hlinkClick r:id="rId19"/>
              </a:rPr>
              <a:t>makewonder.com</a:t>
            </a:r>
          </a:p>
          <a:p>
            <a:pPr algn="l" indent="-164592" marL="164592">
              <a:spcAft>
                <a:spcPts val="0"/>
              </a:spcAft>
              <a:buClr>
                <a:srgbClr val="2E8B3D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Emo / Loona desk robots. </a:t>
            </a:r>
            <a:r>
              <a:rPr b="0" sz="1050" i="0">
                <a:solidFill>
                  <a:srgbClr val="1F2933"/>
                </a:solidFill>
                <a:latin typeface="Arial"/>
              </a:rPr>
              <a:t>Emotive desk pets with no study workflow, OCR or parent view.</a:t>
            </a:r>
          </a:p>
          <a:p>
            <a:pPr algn="l" indent="-164592" marL="164592">
              <a:spcAft>
                <a:spcPts val="900"/>
              </a:spcAft>
              <a:buClr>
                <a:srgbClr val="E9F4EB"/>
              </a:buClr>
              <a:buFont typeface="Arial"/>
              <a:buChar char=" "/>
            </a:pPr>
            <a:r>
              <a:rPr b="0" sz="900" i="0">
                <a:solidFill>
                  <a:srgbClr val="2E8B3D"/>
                </a:solidFill>
                <a:latin typeface="Arial"/>
                <a:hlinkClick r:id="rId20"/>
              </a:rPr>
              <a:t>living.ai</a:t>
            </a:r>
          </a:p>
          <a:p>
            <a:pPr algn="l" indent="-164592" marL="164592">
              <a:spcAft>
                <a:spcPts val="900"/>
              </a:spcAft>
              <a:buClr>
                <a:srgbClr val="2E8B3D"/>
              </a:buClr>
              <a:buFont typeface="Arial"/>
              <a:buChar char="•"/>
            </a:pPr>
            <a:r>
              <a:rPr b="1" sz="1100" i="0">
                <a:solidFill>
                  <a:srgbClr val="1F3864"/>
                </a:solidFill>
                <a:latin typeface="Arial"/>
              </a:rPr>
              <a:t>Table Tot differentiators. </a:t>
            </a:r>
            <a:r>
              <a:rPr b="0" sz="1050" i="0">
                <a:solidFill>
                  <a:srgbClr val="1F2933"/>
                </a:solidFill>
                <a:latin typeface="Arial"/>
              </a:rPr>
              <a:t>offline-first AI, study-specific workflows, parent dashboard, on-device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Crowdfunder</dc:creator>
  <cp:lastModifiedBy>Oshi Sharma</cp:lastModifiedBy>
  <dcterms:created xsi:type="dcterms:W3CDTF">2013-12-12T07:46:50Z</dcterms:created>
  <dcterms:modified xsi:type="dcterms:W3CDTF">2026-09-02T08:06:08Z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68c9665472504be4b67f16bfc660a313_23</vt:lpwstr>
  </property>
</Properties>
</file>