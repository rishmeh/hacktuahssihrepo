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99640f15d413c" /><Relationship Type="http://schemas.openxmlformats.org/officeDocument/2006/relationships/extended-properties" Target="/docProps/app.xml" Id="Rca80670c28464a7c" /><Relationship Type="http://schemas.openxmlformats.org/officeDocument/2006/relationships/officeDocument" Target="/ppt/presentation.xml" Id="Rac67b2b573294ef2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8fa3450c3a264a4f"/>
  </p:sldMasterIdLst>
  <p:notesMasterIdLst>
    <p:notesMasterId xmlns:r="http://schemas.openxmlformats.org/officeDocument/2006/relationships" r:id="Rae5e12f1e90447f7"/>
  </p:notesMasterIdLst>
  <p:sldIdLst>
    <p:sldId xmlns:r="http://schemas.openxmlformats.org/officeDocument/2006/relationships" id="256" r:id="Rea39cdab367f4aee"/>
    <p:sldId xmlns:r="http://schemas.openxmlformats.org/officeDocument/2006/relationships" id="257" r:id="R3c7bae81936e4278"/>
    <p:sldId xmlns:r="http://schemas.openxmlformats.org/officeDocument/2006/relationships" id="258" r:id="Rb4605c301bfb4201"/>
    <p:sldId xmlns:r="http://schemas.openxmlformats.org/officeDocument/2006/relationships" id="259" r:id="R3e1e02fa408147da"/>
    <p:sldId xmlns:r="http://schemas.openxmlformats.org/officeDocument/2006/relationships" id="260" r:id="Rf34597da561f4c23"/>
    <p:sldId xmlns:r="http://schemas.openxmlformats.org/officeDocument/2006/relationships" id="261" r:id="R87f3416461a14c7c"/>
    <p:sldId xmlns:r="http://schemas.openxmlformats.org/officeDocument/2006/relationships" id="262" r:id="Rb9464791f40a4d0a"/>
    <p:sldId xmlns:r="http://schemas.openxmlformats.org/officeDocument/2006/relationships" id="263" r:id="R83a89758196d41d6"/>
    <p:sldId xmlns:r="http://schemas.openxmlformats.org/officeDocument/2006/relationships" id="264" r:id="R2440c81c07464f51"/>
  </p:sldIdLst>
  <p:sldSz cx="12192000" cy="6858000"/>
  <p:notesSz cx="6858000" cy="9144000"/>
  <p:embeddedFontLst>
    <p:embeddedFont>
      <p:font typeface="Garamond"/>
      <p:regular xmlns:r="http://schemas.openxmlformats.org/officeDocument/2006/relationships" r:id="Rdfbc37978b8b4444"/>
      <p:bold xmlns:r="http://schemas.openxmlformats.org/officeDocument/2006/relationships" r:id="R45975ba0ebf14e2a"/>
      <p:italic xmlns:r="http://schemas.openxmlformats.org/officeDocument/2006/relationships" r:id="R424c02c4086e4227"/>
      <p:boldItalic xmlns:r="http://schemas.openxmlformats.org/officeDocument/2006/relationships" r:id="R3219c7a0703b4fd3"/>
    </p:embeddedFont>
    <p:embeddedFont>
      <p:font typeface="Oswald"/>
      <p:regular xmlns:r="http://schemas.openxmlformats.org/officeDocument/2006/relationships" r:id="R3d341cd4db5c49ea"/>
      <p:bold xmlns:r="http://schemas.openxmlformats.org/officeDocument/2006/relationships" r:id="R24eb38dd567b43f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62ba887604408" /><Relationship Type="http://schemas.openxmlformats.org/officeDocument/2006/relationships/slideMaster" Target="/ppt/slideMasters/slideMaster1.xml" Id="R8fa3450c3a264a4f" /><Relationship Type="http://schemas.openxmlformats.org/officeDocument/2006/relationships/notesMaster" Target="/ppt/notesMasters/notesMaster1.xml" Id="Rae5e12f1e90447f7" /><Relationship Type="http://schemas.openxmlformats.org/officeDocument/2006/relationships/presProps" Target="/ppt/presProps.xml" Id="Ra0c3cabf29f24d42" /><Relationship Type="http://schemas.openxmlformats.org/officeDocument/2006/relationships/viewProps" Target="/ppt/viewProps.xml" Id="R224d97e44c5e4965" /><Relationship Type="http://schemas.openxmlformats.org/officeDocument/2006/relationships/tableStyles" Target="/ppt/tableStyles.xml" Id="R67de67c3c9714e93" /><Relationship Type="http://schemas.openxmlformats.org/officeDocument/2006/relationships/font" Target="/ppt/fonts/font.dat" Id="Rdfbc37978b8b4444" /><Relationship Type="http://schemas.openxmlformats.org/officeDocument/2006/relationships/font" Target="/ppt/fonts/font2.dat" Id="R45975ba0ebf14e2a" /><Relationship Type="http://schemas.openxmlformats.org/officeDocument/2006/relationships/font" Target="/ppt/fonts/font3.dat" Id="R424c02c4086e4227" /><Relationship Type="http://schemas.openxmlformats.org/officeDocument/2006/relationships/font" Target="/ppt/fonts/font4.dat" Id="R3219c7a0703b4fd3" /><Relationship Type="http://schemas.openxmlformats.org/officeDocument/2006/relationships/font" Target="/ppt/fonts/font5.dat" Id="R3d341cd4db5c49ea" /><Relationship Type="http://schemas.openxmlformats.org/officeDocument/2006/relationships/font" Target="/ppt/fonts/font6.dat" Id="R24eb38dd567b43f0" /><Relationship Type="http://schemas.openxmlformats.org/officeDocument/2006/relationships/slide" Target="/ppt/slides/slide1.xml" Id="Rea39cdab367f4aee" /><Relationship Type="http://schemas.openxmlformats.org/officeDocument/2006/relationships/slide" Target="/ppt/slides/slide2.xml" Id="R3c7bae81936e4278" /><Relationship Type="http://schemas.openxmlformats.org/officeDocument/2006/relationships/slide" Target="/ppt/slides/slide3.xml" Id="Rb4605c301bfb4201" /><Relationship Type="http://schemas.openxmlformats.org/officeDocument/2006/relationships/slide" Target="/ppt/slides/slide4.xml" Id="R3e1e02fa408147da" /><Relationship Type="http://schemas.openxmlformats.org/officeDocument/2006/relationships/slide" Target="/ppt/slides/slide5.xml" Id="Rf34597da561f4c23" /><Relationship Type="http://schemas.openxmlformats.org/officeDocument/2006/relationships/slide" Target="/ppt/slides/slide6.xml" Id="R87f3416461a14c7c" /><Relationship Type="http://schemas.openxmlformats.org/officeDocument/2006/relationships/slide" Target="/ppt/slides/slide7.xml" Id="Rb9464791f40a4d0a" /><Relationship Type="http://schemas.openxmlformats.org/officeDocument/2006/relationships/slide" Target="/ppt/slides/slide8.xml" Id="R83a89758196d41d6" /><Relationship Type="http://schemas.openxmlformats.org/officeDocument/2006/relationships/slide" Target="/ppt/slides/slide9.xml" Id="R2440c81c07464f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0358736c2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1edd9bc43428b" /><Relationship Type="http://schemas.openxmlformats.org/officeDocument/2006/relationships/notesMaster" Target="/ppt/notesMasters/notesMaster1.xml" Id="R76b39d69921148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17af502f6d4026" /><Relationship Type="http://schemas.openxmlformats.org/officeDocument/2006/relationships/notesMaster" Target="/ppt/notesMasters/notesMaster1.xml" Id="R18fa1990137b43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6a35024ef41bb" /><Relationship Type="http://schemas.openxmlformats.org/officeDocument/2006/relationships/notesMaster" Target="/ppt/notesMasters/notesMaster1.xml" Id="R3c8610f00391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2251c64dc4a62" /><Relationship Type="http://schemas.openxmlformats.org/officeDocument/2006/relationships/notesMaster" Target="/ppt/notesMasters/notesMaster1.xml" Id="Rf157c390d19440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abc54fe0524d29" /><Relationship Type="http://schemas.openxmlformats.org/officeDocument/2006/relationships/notesMaster" Target="/ppt/notesMasters/notesMaster1.xml" Id="Ra675dcaf81ae4a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59ceeea0444604" /><Relationship Type="http://schemas.openxmlformats.org/officeDocument/2006/relationships/notesMaster" Target="/ppt/notesMasters/notesMaster1.xml" Id="R6cc13fbe226945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9f4fb0fe0b4de1" /><Relationship Type="http://schemas.openxmlformats.org/officeDocument/2006/relationships/notesMaster" Target="/ppt/notesMasters/notesMaster1.xml" Id="Rfeafc007c1414c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7110402c5e4ef1" /><Relationship Type="http://schemas.openxmlformats.org/officeDocument/2006/relationships/notesMaster" Target="/ppt/notesMasters/notesMaster1.xml" Id="R52a9a29588c542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59201711954f83" /><Relationship Type="http://schemas.openxmlformats.org/officeDocument/2006/relationships/notesMaster" Target="/ppt/notesMasters/notesMaster1.xml" Id="Re26517fecea144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63a7c3f4d47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7c363b25643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e6456dad144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5f6cbd65d44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be4c6d8054b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e0c75a8de4a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842bcc1dd474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4f6314fd845b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4048901d741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50d48e1c64c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82bdcebdc41c6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81" name="Google Shape;16;p9">
            <a:extLst xmlns:a="http://schemas.openxmlformats.org/drawingml/2006/main">
              <a:ext uri="{FF2B5EF4-FFF2-40B4-BE49-F238E27FC236}">
                <a16:creationId xmlns:a16="http://schemas.microsoft.com/office/drawing/2014/main" id="{89F59CB9-0BE1-486D-B38D-34FE063B046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582" name="Google Shape;17;p9">
            <a:extLst xmlns:a="http://schemas.openxmlformats.org/drawingml/2006/main">
              <a:ext uri="{FF2B5EF4-FFF2-40B4-BE49-F238E27FC236}">
                <a16:creationId xmlns:a16="http://schemas.microsoft.com/office/drawing/2014/main" id="{54A084BD-7B3A-4912-8D05-7DDEFFFE10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48583" name="Google Shape;18;p9">
            <a:extLst xmlns:a="http://schemas.openxmlformats.org/drawingml/2006/main">
              <a:ext uri="{FF2B5EF4-FFF2-40B4-BE49-F238E27FC236}">
                <a16:creationId xmlns:a16="http://schemas.microsoft.com/office/drawing/2014/main" id="{02374502-566F-4B8C-AECD-F04DCD6551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584" name="Google Shape;19;p9">
            <a:extLst xmlns:a="http://schemas.openxmlformats.org/drawingml/2006/main">
              <a:ext uri="{FF2B5EF4-FFF2-40B4-BE49-F238E27FC236}">
                <a16:creationId xmlns:a16="http://schemas.microsoft.com/office/drawing/2014/main" id="{55EC546F-D4C8-49D6-A824-F9A49DB475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585" name="Google Shape;20;p9">
            <a:extLst xmlns:a="http://schemas.openxmlformats.org/drawingml/2006/main">
              <a:ext uri="{FF2B5EF4-FFF2-40B4-BE49-F238E27FC236}">
                <a16:creationId xmlns:a16="http://schemas.microsoft.com/office/drawing/2014/main" id="{78AE278B-5DEE-4812-B540-A5940A615F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93" name="Google Shape;22;p10">
            <a:extLst xmlns:a="http://schemas.openxmlformats.org/drawingml/2006/main">
              <a:ext uri="{FF2B5EF4-FFF2-40B4-BE49-F238E27FC236}">
                <a16:creationId xmlns:a16="http://schemas.microsoft.com/office/drawing/2014/main" id="{20B85D25-0104-4E8C-9CAD-CCA71EF026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594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99418E66-E595-49CA-91FD-3F683F8740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48595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F88C5BBC-AFA4-452D-BF1C-BDF48B011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596" name="Google Shape;25;p10">
            <a:extLst xmlns:a="http://schemas.openxmlformats.org/drawingml/2006/main">
              <a:ext uri="{FF2B5EF4-FFF2-40B4-BE49-F238E27FC236}">
                <a16:creationId xmlns:a16="http://schemas.microsoft.com/office/drawing/2014/main" id="{8973102D-742B-4776-B0E5-4367D257F2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597" name="Google Shape;26;p10">
            <a:extLst xmlns:a="http://schemas.openxmlformats.org/drawingml/2006/main">
              <a:ext uri="{FF2B5EF4-FFF2-40B4-BE49-F238E27FC236}">
                <a16:creationId xmlns:a16="http://schemas.microsoft.com/office/drawing/2014/main" id="{8F1C8220-FD85-489C-AF81-686F4ECA00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87" name="Google Shape;28;p11">
            <a:extLst xmlns:a="http://schemas.openxmlformats.org/drawingml/2006/main">
              <a:ext uri="{FF2B5EF4-FFF2-40B4-BE49-F238E27FC236}">
                <a16:creationId xmlns:a16="http://schemas.microsoft.com/office/drawing/2014/main" id="{E923675B-4905-4375-851A-4B560A2D2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88" name="Google Shape;29;p11">
            <a:extLst xmlns:a="http://schemas.openxmlformats.org/drawingml/2006/main">
              <a:ext uri="{FF2B5EF4-FFF2-40B4-BE49-F238E27FC236}">
                <a16:creationId xmlns:a16="http://schemas.microsoft.com/office/drawing/2014/main" id="{1843255A-7799-44E7-9636-EDDF29EC5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48889" name="Google Shape;30;p11">
            <a:extLst xmlns:a="http://schemas.openxmlformats.org/drawingml/2006/main">
              <a:ext uri="{FF2B5EF4-FFF2-40B4-BE49-F238E27FC236}">
                <a16:creationId xmlns:a16="http://schemas.microsoft.com/office/drawing/2014/main" id="{FDB64C2A-C63C-4895-A7E1-5CCCECB7A4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90" name="Google Shape;31;p11">
            <a:extLst xmlns:a="http://schemas.openxmlformats.org/drawingml/2006/main">
              <a:ext uri="{FF2B5EF4-FFF2-40B4-BE49-F238E27FC236}">
                <a16:creationId xmlns:a16="http://schemas.microsoft.com/office/drawing/2014/main" id="{B2A4F580-DF2C-41AA-AE07-02F079547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91" name="Google Shape;32;p11">
            <a:extLst xmlns:a="http://schemas.openxmlformats.org/drawingml/2006/main">
              <a:ext uri="{FF2B5EF4-FFF2-40B4-BE49-F238E27FC236}">
                <a16:creationId xmlns:a16="http://schemas.microsoft.com/office/drawing/2014/main" id="{E161CAA6-1466-42FA-A5CB-93AD59668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92" name="Google Shape;34;p12">
            <a:extLst xmlns:a="http://schemas.openxmlformats.org/drawingml/2006/main">
              <a:ext uri="{FF2B5EF4-FFF2-40B4-BE49-F238E27FC236}">
                <a16:creationId xmlns:a16="http://schemas.microsoft.com/office/drawing/2014/main" id="{EBF4031F-1435-421C-A3F9-CE2CBF7CB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93" name="Google Shape;35;p12">
            <a:extLst xmlns:a="http://schemas.openxmlformats.org/drawingml/2006/main">
              <a:ext uri="{FF2B5EF4-FFF2-40B4-BE49-F238E27FC236}">
                <a16:creationId xmlns:a16="http://schemas.microsoft.com/office/drawing/2014/main" id="{1E9F0CFE-0384-46A3-8A2E-808392D9B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1048894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B8FC3D47-EDED-418C-A287-606AC27795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97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1048895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93FD18BB-C603-483F-B81A-0562339384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96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8B3CC765-8A5A-4876-8802-2918AAF7BB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97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C0F93A71-AF0B-46C1-919C-200AB282B9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98" name="Google Shape;41;p13">
            <a:extLst xmlns:a="http://schemas.openxmlformats.org/drawingml/2006/main">
              <a:ext uri="{FF2B5EF4-FFF2-40B4-BE49-F238E27FC236}">
                <a16:creationId xmlns:a16="http://schemas.microsoft.com/office/drawing/2014/main" id="{C0C98659-6EF8-41AF-8435-238242274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99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DBBC13D5-4A5E-4776-8236-7642D5241A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1048900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5E03E99A-A956-4E5F-9C32-807065F4FB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2174875"/>
            <a:ext cx="5386917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1048901" name="Google Shape;44;p13">
            <a:extLst xmlns:a="http://schemas.openxmlformats.org/drawingml/2006/main">
              <a:ext uri="{FF2B5EF4-FFF2-40B4-BE49-F238E27FC236}">
                <a16:creationId xmlns:a16="http://schemas.microsoft.com/office/drawing/2014/main" id="{9A98B137-4E7B-4ABB-BA7C-2EBFC877C1A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1048902" name="Google Shape;45;p13">
            <a:extLst xmlns:a="http://schemas.openxmlformats.org/drawingml/2006/main">
              <a:ext uri="{FF2B5EF4-FFF2-40B4-BE49-F238E27FC236}">
                <a16:creationId xmlns:a16="http://schemas.microsoft.com/office/drawing/2014/main" id="{841F7491-8E61-4075-B0D2-81870429D78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93369" y="2174875"/>
            <a:ext cx="5389033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1048903" name="Google Shape;46;p13">
            <a:extLst xmlns:a="http://schemas.openxmlformats.org/drawingml/2006/main">
              <a:ext uri="{FF2B5EF4-FFF2-40B4-BE49-F238E27FC236}">
                <a16:creationId xmlns:a16="http://schemas.microsoft.com/office/drawing/2014/main" id="{B49D53B9-BEEC-4DDB-A70B-D3002607A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904" name="Google Shape;47;p13">
            <a:extLst xmlns:a="http://schemas.openxmlformats.org/drawingml/2006/main">
              <a:ext uri="{FF2B5EF4-FFF2-40B4-BE49-F238E27FC236}">
                <a16:creationId xmlns:a16="http://schemas.microsoft.com/office/drawing/2014/main" id="{7AD08E0C-1372-49FA-A1C9-C57DE33BEE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905" name="Google Shape;48;p13">
            <a:extLst xmlns:a="http://schemas.openxmlformats.org/drawingml/2006/main">
              <a:ext uri="{FF2B5EF4-FFF2-40B4-BE49-F238E27FC236}">
                <a16:creationId xmlns:a16="http://schemas.microsoft.com/office/drawing/2014/main" id="{544ABFB4-9BEB-4987-9C7D-6134A71E6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67" name="Google Shape;50;p14">
            <a:extLst xmlns:a="http://schemas.openxmlformats.org/drawingml/2006/main">
              <a:ext uri="{FF2B5EF4-FFF2-40B4-BE49-F238E27FC236}">
                <a16:creationId xmlns:a16="http://schemas.microsoft.com/office/drawing/2014/main" id="{F7703F56-3258-4705-AD3C-13D6C573D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68" name="Google Shape;51;p14">
            <a:extLst xmlns:a="http://schemas.openxmlformats.org/drawingml/2006/main">
              <a:ext uri="{FF2B5EF4-FFF2-40B4-BE49-F238E27FC236}">
                <a16:creationId xmlns:a16="http://schemas.microsoft.com/office/drawing/2014/main" id="{2D0918DB-863A-484E-A31E-F22E04238E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69" name="Google Shape;52;p14">
            <a:extLst xmlns:a="http://schemas.openxmlformats.org/drawingml/2006/main">
              <a:ext uri="{FF2B5EF4-FFF2-40B4-BE49-F238E27FC236}">
                <a16:creationId xmlns:a16="http://schemas.microsoft.com/office/drawing/2014/main" id="{851F13B2-287D-49AB-B37C-089A6D364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70" name="Google Shape;53;p14">
            <a:extLst xmlns:a="http://schemas.openxmlformats.org/drawingml/2006/main">
              <a:ext uri="{FF2B5EF4-FFF2-40B4-BE49-F238E27FC236}">
                <a16:creationId xmlns:a16="http://schemas.microsoft.com/office/drawing/2014/main" id="{7A027359-13CA-42A9-95CE-FC84BAF96A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906" name="Google Shape;55;p15">
            <a:extLst xmlns:a="http://schemas.openxmlformats.org/drawingml/2006/main">
              <a:ext uri="{FF2B5EF4-FFF2-40B4-BE49-F238E27FC236}">
                <a16:creationId xmlns:a16="http://schemas.microsoft.com/office/drawing/2014/main" id="{2EBD3B6A-17FC-4DFA-956B-B0302620B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907" name="Google Shape;56;p15">
            <a:extLst xmlns:a="http://schemas.openxmlformats.org/drawingml/2006/main">
              <a:ext uri="{FF2B5EF4-FFF2-40B4-BE49-F238E27FC236}">
                <a16:creationId xmlns:a16="http://schemas.microsoft.com/office/drawing/2014/main" id="{33666351-8860-4572-B112-00FBF2C397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908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D7A9B371-21D7-4F04-B384-5461DE5131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909" name="Google Shape;59;p16">
            <a:extLst xmlns:a="http://schemas.openxmlformats.org/drawingml/2006/main">
              <a:ext uri="{FF2B5EF4-FFF2-40B4-BE49-F238E27FC236}">
                <a16:creationId xmlns:a16="http://schemas.microsoft.com/office/drawing/2014/main" id="{0F4494C4-1916-4963-ADE1-5276E4461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910" name="Google Shape;60;p16">
            <a:extLst xmlns:a="http://schemas.openxmlformats.org/drawingml/2006/main">
              <a:ext uri="{FF2B5EF4-FFF2-40B4-BE49-F238E27FC236}">
                <a16:creationId xmlns:a16="http://schemas.microsoft.com/office/drawing/2014/main" id="{5A3A1ED0-D9B4-41E8-A61D-5D36D8FEA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66733" y="273053"/>
            <a:ext cx="6815667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1048911" name="Google Shape;61;p16">
            <a:extLst xmlns:a="http://schemas.openxmlformats.org/drawingml/2006/main">
              <a:ext uri="{FF2B5EF4-FFF2-40B4-BE49-F238E27FC236}">
                <a16:creationId xmlns:a16="http://schemas.microsoft.com/office/drawing/2014/main" id="{81051549-3DAD-4B4A-8C10-EB0980956F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04891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4DF271E4-5769-41B4-BFCE-A8A4613204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91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A6ECF8E4-98A0-4192-A468-80EC74C6EB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91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4C7D4882-4072-46FA-9F24-E81A130D58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76" name="Google Shape;66;p17">
            <a:extLst xmlns:a="http://schemas.openxmlformats.org/drawingml/2006/main">
              <a:ext uri="{FF2B5EF4-FFF2-40B4-BE49-F238E27FC236}">
                <a16:creationId xmlns:a16="http://schemas.microsoft.com/office/drawing/2014/main" id="{1D169EEC-BFA3-4D99-9E8B-A3D7CE22D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7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AD01071F-72C8-4FA5-A502-32766C82FF1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89717" y="612775"/>
            <a:ext cx="7315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887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C7528C06-C64A-4165-AAAC-A43B9EF16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89717" y="5367338"/>
            <a:ext cx="73152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048879" name="Google Shape;69;p17">
            <a:extLst xmlns:a="http://schemas.openxmlformats.org/drawingml/2006/main">
              <a:ext uri="{FF2B5EF4-FFF2-40B4-BE49-F238E27FC236}">
                <a16:creationId xmlns:a16="http://schemas.microsoft.com/office/drawing/2014/main" id="{01F12412-8A62-4166-ABA2-24D102A11F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80" name="Google Shape;70;p17">
            <a:extLst xmlns:a="http://schemas.openxmlformats.org/drawingml/2006/main">
              <a:ext uri="{FF2B5EF4-FFF2-40B4-BE49-F238E27FC236}">
                <a16:creationId xmlns:a16="http://schemas.microsoft.com/office/drawing/2014/main" id="{4A08C507-C8CA-430D-8738-6A3776D973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81" name="Google Shape;71;p17">
            <a:extLst xmlns:a="http://schemas.openxmlformats.org/drawingml/2006/main">
              <a:ext uri="{FF2B5EF4-FFF2-40B4-BE49-F238E27FC236}">
                <a16:creationId xmlns:a16="http://schemas.microsoft.com/office/drawing/2014/main" id="{E5916095-00EC-4552-A51B-449D6DEC32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82" name="Google Shape;73;p18">
            <a:extLst xmlns:a="http://schemas.openxmlformats.org/drawingml/2006/main">
              <a:ext uri="{FF2B5EF4-FFF2-40B4-BE49-F238E27FC236}">
                <a16:creationId xmlns:a16="http://schemas.microsoft.com/office/drawing/2014/main" id="{305B203A-42AE-45A3-BC41-133A3ECA0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83" name="Google Shape;74;p18">
            <a:extLst xmlns:a="http://schemas.openxmlformats.org/drawingml/2006/main">
              <a:ext uri="{FF2B5EF4-FFF2-40B4-BE49-F238E27FC236}">
                <a16:creationId xmlns:a16="http://schemas.microsoft.com/office/drawing/2014/main" id="{94993FB1-727A-4BB9-951C-2E0342DFB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580606" y="-1875631"/>
            <a:ext cx="5030788" cy="109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48884" name="Google Shape;75;p18">
            <a:extLst xmlns:a="http://schemas.openxmlformats.org/drawingml/2006/main">
              <a:ext uri="{FF2B5EF4-FFF2-40B4-BE49-F238E27FC236}">
                <a16:creationId xmlns:a16="http://schemas.microsoft.com/office/drawing/2014/main" id="{B25DA46B-75FC-4E96-8EE5-2DA1AC612E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85" name="Google Shape;76;p18">
            <a:extLst xmlns:a="http://schemas.openxmlformats.org/drawingml/2006/main">
              <a:ext uri="{FF2B5EF4-FFF2-40B4-BE49-F238E27FC236}">
                <a16:creationId xmlns:a16="http://schemas.microsoft.com/office/drawing/2014/main" id="{DEE08A5D-B2F7-46A6-B506-FDF1272C1C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86" name="Google Shape;77;p18">
            <a:extLst xmlns:a="http://schemas.openxmlformats.org/drawingml/2006/main">
              <a:ext uri="{FF2B5EF4-FFF2-40B4-BE49-F238E27FC236}">
                <a16:creationId xmlns:a16="http://schemas.microsoft.com/office/drawing/2014/main" id="{CA22E9A0-11E5-47D5-A9E0-9891019765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71" name="Google Shape;79;p19">
            <a:extLst xmlns:a="http://schemas.openxmlformats.org/drawingml/2006/main">
              <a:ext uri="{FF2B5EF4-FFF2-40B4-BE49-F238E27FC236}">
                <a16:creationId xmlns:a16="http://schemas.microsoft.com/office/drawing/2014/main" id="{EE55140A-03F3-4FB6-B180-4224D77E7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285038" y="1828804"/>
            <a:ext cx="58515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72" name="Google Shape;80;p19">
            <a:extLst xmlns:a="http://schemas.openxmlformats.org/drawingml/2006/main">
              <a:ext uri="{FF2B5EF4-FFF2-40B4-BE49-F238E27FC236}">
                <a16:creationId xmlns:a16="http://schemas.microsoft.com/office/drawing/2014/main" id="{E88BA064-21EE-4B26-A66F-C166B642E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97038" y="-812796"/>
            <a:ext cx="5851525" cy="80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48873" name="Google Shape;81;p19">
            <a:extLst xmlns:a="http://schemas.openxmlformats.org/drawingml/2006/main">
              <a:ext uri="{FF2B5EF4-FFF2-40B4-BE49-F238E27FC236}">
                <a16:creationId xmlns:a16="http://schemas.microsoft.com/office/drawing/2014/main" id="{60096C8C-6BB3-4742-842F-5EC936FF99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74" name="Google Shape;82;p19">
            <a:extLst xmlns:a="http://schemas.openxmlformats.org/drawingml/2006/main">
              <a:ext uri="{FF2B5EF4-FFF2-40B4-BE49-F238E27FC236}">
                <a16:creationId xmlns:a16="http://schemas.microsoft.com/office/drawing/2014/main" id="{8DF6314F-B7C6-4FAE-8927-AB928583F1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8875" name="Google Shape;83;p19">
            <a:extLst xmlns:a="http://schemas.openxmlformats.org/drawingml/2006/main">
              <a:ext uri="{FF2B5EF4-FFF2-40B4-BE49-F238E27FC236}">
                <a16:creationId xmlns:a16="http://schemas.microsoft.com/office/drawing/2014/main" id="{2726135D-31AD-4D5D-97B7-5B4490D814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fa903a07f64165" /><Relationship Type="http://schemas.openxmlformats.org/officeDocument/2006/relationships/slideLayout" Target="/ppt/slideLayouts/slideLayout1.xml" Id="R33a0330de3fe4ff1" /><Relationship Type="http://schemas.openxmlformats.org/officeDocument/2006/relationships/slideLayout" Target="/ppt/slideLayouts/slideLayout2.xml" Id="Rb3e5b36d09094b3d" /><Relationship Type="http://schemas.openxmlformats.org/officeDocument/2006/relationships/slideLayout" Target="/ppt/slideLayouts/slideLayout3.xml" Id="R1a29b161bd2e40e9" /><Relationship Type="http://schemas.openxmlformats.org/officeDocument/2006/relationships/slideLayout" Target="/ppt/slideLayouts/slideLayout4.xml" Id="R890a477dba2e4ae4" /><Relationship Type="http://schemas.openxmlformats.org/officeDocument/2006/relationships/slideLayout" Target="/ppt/slideLayouts/slideLayout5.xml" Id="R962412e278f24911" /><Relationship Type="http://schemas.openxmlformats.org/officeDocument/2006/relationships/slideLayout" Target="/ppt/slideLayouts/slideLayout6.xml" Id="R6a86bb4010b14ea0" /><Relationship Type="http://schemas.openxmlformats.org/officeDocument/2006/relationships/slideLayout" Target="/ppt/slideLayouts/slideLayout7.xml" Id="R8398125fee174f8a" /><Relationship Type="http://schemas.openxmlformats.org/officeDocument/2006/relationships/slideLayout" Target="/ppt/slideLayouts/slideLayout8.xml" Id="R6316e88cd93f4e16" /><Relationship Type="http://schemas.openxmlformats.org/officeDocument/2006/relationships/slideLayout" Target="/ppt/slideLayouts/slideLayout9.xml" Id="R7035a34a59294103" /><Relationship Type="http://schemas.openxmlformats.org/officeDocument/2006/relationships/slideLayout" Target="/ppt/slideLayouts/slideLayout10.xml" Id="R0b0fd9b14fd1462a" /><Relationship Type="http://schemas.openxmlformats.org/officeDocument/2006/relationships/slideLayout" Target="/ppt/slideLayouts/slideLayout11.xml" Id="Rf968dbbd1968469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76" name="Google Shape;10;p8">
            <a:extLst xmlns:a="http://schemas.openxmlformats.org/drawingml/2006/main">
              <a:ext uri="{FF2B5EF4-FFF2-40B4-BE49-F238E27FC236}">
                <a16:creationId xmlns:a16="http://schemas.microsoft.com/office/drawing/2014/main" id="{976240F1-3757-4F7E-844D-131F95B67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/>
        </p:txBody>
      </p:sp>
      <p:sp>
        <p:nvSpPr>
          <p:cNvPr id="1048577" name="Google Shape;11;p8">
            <a:extLst xmlns:a="http://schemas.openxmlformats.org/drawingml/2006/main">
              <a:ext uri="{FF2B5EF4-FFF2-40B4-BE49-F238E27FC236}">
                <a16:creationId xmlns:a16="http://schemas.microsoft.com/office/drawing/2014/main" id="{9DB9A8E0-2C90-41FC-9B48-D92B65C299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48578" name="Google Shape;12;p8">
            <a:extLst xmlns:a="http://schemas.openxmlformats.org/drawingml/2006/main">
              <a:ext uri="{FF2B5EF4-FFF2-40B4-BE49-F238E27FC236}">
                <a16:creationId xmlns:a16="http://schemas.microsoft.com/office/drawing/2014/main" id="{75B7F476-C0B8-438F-B695-FA8A2AE214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48579" name="Google Shape;13;p8">
            <a:extLst xmlns:a="http://schemas.openxmlformats.org/drawingml/2006/main">
              <a:ext uri="{FF2B5EF4-FFF2-40B4-BE49-F238E27FC236}">
                <a16:creationId xmlns:a16="http://schemas.microsoft.com/office/drawing/2014/main" id="{8953C0EC-0559-4DB8-89E1-2093376B4D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Oswald"/>
                <a:ea typeface="Oswald"/>
                <a:cs typeface="Oswald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48580" name="Google Shape;14;p8">
            <a:extLst xmlns:a="http://schemas.openxmlformats.org/drawingml/2006/main">
              <a:ext uri="{FF2B5EF4-FFF2-40B4-BE49-F238E27FC236}">
                <a16:creationId xmlns:a16="http://schemas.microsoft.com/office/drawing/2014/main" id="{64C26CF5-28B0-4B94-9126-D46D193928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0330de3fe4ff1"/>
    <p:sldLayoutId xmlns:r="http://schemas.openxmlformats.org/officeDocument/2006/relationships" id="2147483650" r:id="Rb3e5b36d09094b3d"/>
    <p:sldLayoutId xmlns:r="http://schemas.openxmlformats.org/officeDocument/2006/relationships" id="2147483651" r:id="R1a29b161bd2e40e9"/>
    <p:sldLayoutId xmlns:r="http://schemas.openxmlformats.org/officeDocument/2006/relationships" id="2147483652" r:id="R890a477dba2e4ae4"/>
    <p:sldLayoutId xmlns:r="http://schemas.openxmlformats.org/officeDocument/2006/relationships" id="2147483653" r:id="R962412e278f24911"/>
    <p:sldLayoutId xmlns:r="http://schemas.openxmlformats.org/officeDocument/2006/relationships" id="2147483654" r:id="R6a86bb4010b14ea0"/>
    <p:sldLayoutId xmlns:r="http://schemas.openxmlformats.org/officeDocument/2006/relationships" id="2147483655" r:id="R8398125fee174f8a"/>
    <p:sldLayoutId xmlns:r="http://schemas.openxmlformats.org/officeDocument/2006/relationships" id="2147483656" r:id="R6316e88cd93f4e16"/>
    <p:sldLayoutId xmlns:r="http://schemas.openxmlformats.org/officeDocument/2006/relationships" id="2147483657" r:id="R7035a34a59294103"/>
    <p:sldLayoutId xmlns:r="http://schemas.openxmlformats.org/officeDocument/2006/relationships" id="2147483658" r:id="R0b0fd9b14fd1462a"/>
    <p:sldLayoutId xmlns:r="http://schemas.openxmlformats.org/officeDocument/2006/relationships" id="2147483659" r:id="Rf968dbbd1968469c"/>
  </p:sldLayoutIdLst>
  <p:hf sldNum="1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c99aef90a4b15" /><Relationship Type="http://schemas.openxmlformats.org/officeDocument/2006/relationships/image" Target="/ppt/media/image.png" Id="R58409c5da182406d" /><Relationship Type="http://schemas.openxmlformats.org/officeDocument/2006/relationships/image" Target="/ppt/media/image2.png" Id="Raa9c437bad8a4f40" /><Relationship Type="http://schemas.openxmlformats.org/officeDocument/2006/relationships/notesSlide" Target="/ppt/notesSlides/notesSlide1.xml" Id="R7532d40e04ee40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e35ba92aa24a04" /><Relationship Type="http://schemas.openxmlformats.org/officeDocument/2006/relationships/image" Target="/ppt/media/image2.png" Id="R35de63a5d91b496d" /><Relationship Type="http://schemas.openxmlformats.org/officeDocument/2006/relationships/image" Target="/ppt/media/image3.png" Id="R8a2f7be0734d453a" /><Relationship Type="http://schemas.openxmlformats.org/officeDocument/2006/relationships/image" Target="/ppt/media/image4.png" Id="R1ccd93d45e144d83" /><Relationship Type="http://schemas.openxmlformats.org/officeDocument/2006/relationships/image" Target="/ppt/media/image5.png" Id="R2dca290d4a4f4edb" /><Relationship Type="http://schemas.openxmlformats.org/officeDocument/2006/relationships/image" Target="/ppt/media/image6.png" Id="Rb88a58e1a219437a" /><Relationship Type="http://schemas.openxmlformats.org/officeDocument/2006/relationships/notesSlide" Target="/ppt/notesSlides/notesSlide2.xml" Id="R1c95dc0789d74f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b97dc021546a0" /><Relationship Type="http://schemas.openxmlformats.org/officeDocument/2006/relationships/image" Target="/ppt/media/image2.png" Id="Ra3517da3bbc647df" /><Relationship Type="http://schemas.openxmlformats.org/officeDocument/2006/relationships/image" Target="/ppt/media/image7.png" Id="R97ec7e347df0458c" /><Relationship Type="http://schemas.openxmlformats.org/officeDocument/2006/relationships/image" Target="/ppt/media/image8.png" Id="R30fb5248622a4446" /><Relationship Type="http://schemas.openxmlformats.org/officeDocument/2006/relationships/image" Target="/ppt/media/image9.png" Id="Reced7fe8688846a8" /><Relationship Type="http://schemas.openxmlformats.org/officeDocument/2006/relationships/image" Target="/ppt/media/image10.png" Id="Rc7e746286ead4555" /><Relationship Type="http://schemas.openxmlformats.org/officeDocument/2006/relationships/notesSlide" Target="/ppt/notesSlides/notesSlide3.xml" Id="Rd5fc218cafc7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457c7336f41f3" /><Relationship Type="http://schemas.openxmlformats.org/officeDocument/2006/relationships/image" Target="/ppt/media/image2.png" Id="R70b97a6edd8b49e4" /><Relationship Type="http://schemas.openxmlformats.org/officeDocument/2006/relationships/image" Target="/ppt/media/image11.png" Id="R8e3cfe6cfb2e488c" /><Relationship Type="http://schemas.openxmlformats.org/officeDocument/2006/relationships/image" Target="/ppt/media/image12.png" Id="R1dd4557fc8e24e4e" /><Relationship Type="http://schemas.openxmlformats.org/officeDocument/2006/relationships/notesSlide" Target="/ppt/notesSlides/notesSlide4.xml" Id="R8bb653af9b3f4e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ae21471f4499e" /><Relationship Type="http://schemas.openxmlformats.org/officeDocument/2006/relationships/image" Target="/ppt/media/image2.png" Id="R7e0d7311e42b45d3" /><Relationship Type="http://schemas.openxmlformats.org/officeDocument/2006/relationships/image" Target="/ppt/media/image13.png" Id="R242f2bb4903c4c14" /><Relationship Type="http://schemas.openxmlformats.org/officeDocument/2006/relationships/image" Target="/ppt/media/image14.png" Id="R200c2dbe101647db" /><Relationship Type="http://schemas.openxmlformats.org/officeDocument/2006/relationships/notesSlide" Target="/ppt/notesSlides/notesSlide5.xml" Id="Rdc6e1c7286f044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f0534b4ca46a8" /><Relationship Type="http://schemas.openxmlformats.org/officeDocument/2006/relationships/image" Target="/ppt/media/image2.png" Id="R82e6f0c89e674555" /><Relationship Type="http://schemas.openxmlformats.org/officeDocument/2006/relationships/notesSlide" Target="/ppt/notesSlides/notesSlide6.xml" Id="Rcad74c357cba42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2030fd5af84a95" /><Relationship Type="http://schemas.openxmlformats.org/officeDocument/2006/relationships/image" Target="/ppt/media/image2.png" Id="Rcfd09ab67dea4ed4" /><Relationship Type="http://schemas.openxmlformats.org/officeDocument/2006/relationships/image" Target="/ppt/media/image15.png" Id="Rf13a1065dafc4c56" /><Relationship Type="http://schemas.openxmlformats.org/officeDocument/2006/relationships/notesSlide" Target="/ppt/notesSlides/notesSlide7.xml" Id="R4e1d4dc189cf47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24a8642124cf2" /><Relationship Type="http://schemas.openxmlformats.org/officeDocument/2006/relationships/image" Target="/ppt/media/image2.png" Id="Rb1599954a96f463e" /><Relationship Type="http://schemas.openxmlformats.org/officeDocument/2006/relationships/image" Target="/ppt/media/image16.png" Id="Re35aa495623a4ca0" /><Relationship Type="http://schemas.openxmlformats.org/officeDocument/2006/relationships/image" Target="/ppt/media/image17.png" Id="R6012209bebe94b1a" /><Relationship Type="http://schemas.openxmlformats.org/officeDocument/2006/relationships/image" Target="/ppt/media/image18.png" Id="R8841a89ad4274cef" /><Relationship Type="http://schemas.openxmlformats.org/officeDocument/2006/relationships/image" Target="/ppt/media/image9.png" Id="R6ddc521f242241ad" /><Relationship Type="http://schemas.openxmlformats.org/officeDocument/2006/relationships/notesSlide" Target="/ppt/notesSlides/notesSlide8.xml" Id="Re7e3a6d82d914a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95f718d1104454" /><Relationship Type="http://schemas.openxmlformats.org/officeDocument/2006/relationships/image" Target="/ppt/media/image2.png" Id="R050fef0b38c94f03" /><Relationship Type="http://schemas.openxmlformats.org/officeDocument/2006/relationships/image" Target="/ppt/media/image7.png" Id="R319dd45f82044761" /><Relationship Type="http://schemas.openxmlformats.org/officeDocument/2006/relationships/hyperlink" Target="https://pomodorotechnique.com/" TargetMode="External" Id="R1101b09ebca6417b" /><Relationship Type="http://schemas.openxmlformats.org/officeDocument/2006/relationships/hyperlink" Target="https://doi.org/10.1037/0033-2909.132.3.354" TargetMode="External" Id="Rb3d0827ed1bc483e" /><Relationship Type="http://schemas.openxmlformats.org/officeDocument/2006/relationships/hyperlink" Target="https://doi.org/10.1111/j.1467-9280.2006.01693.x" TargetMode="External" Id="R1e1e944457e248c5" /><Relationship Type="http://schemas.openxmlformats.org/officeDocument/2006/relationships/hyperlink" Target="https://psychclassics.yorku.ca/Ebbinghaus/index.htm" TargetMode="External" Id="Rce3d7b036ebe4a80" /><Relationship Type="http://schemas.openxmlformats.org/officeDocument/2006/relationships/hyperlink" Target="https://static.pib.gov.in/WriteReadData/userfiles/NEP_Final_English_0.pdf" TargetMode="External" Id="Re00a23088dc94ab4" /><Relationship Type="http://schemas.openxmlformats.org/officeDocument/2006/relationships/image" Target="/ppt/media/image14.png" Id="R64df58cba380432e" /><Relationship Type="http://schemas.openxmlformats.org/officeDocument/2006/relationships/hyperlink" Target="https://github.com/QwenLM/Qwen3" TargetMode="External" Id="R05a854819fb54ace" /><Relationship Type="http://schemas.openxmlformats.org/officeDocument/2006/relationships/hyperlink" Target="https://github.com/ggml-org/llama.cpp" TargetMode="External" Id="R0613f0d2004b4840" /><Relationship Type="http://schemas.openxmlformats.org/officeDocument/2006/relationships/hyperlink" Target="https://huggingface.co/hexgrad/Kokoro-82M" TargetMode="External" Id="R9abdf76745f54390" /><Relationship Type="http://schemas.openxmlformats.org/officeDocument/2006/relationships/hyperlink" Target="https://github.com/usefulsensors/moonshine" TargetMode="External" Id="R34034bf7d3a8441b" /><Relationship Type="http://schemas.openxmlformats.org/officeDocument/2006/relationships/hyperlink" Target="https://github.com/opencv/opencv_zoo" TargetMode="External" Id="Rc8fc00191bcf4606" /><Relationship Type="http://schemas.openxmlformats.org/officeDocument/2006/relationships/hyperlink" Target="https://github.com/rhasspy/piper" TargetMode="External" Id="R72a112a5dc354dbd" /><Relationship Type="http://schemas.openxmlformats.org/officeDocument/2006/relationships/hyperlink" Target="https://raspberrypi.com/documentation" TargetMode="External" Id="Rc91ea45827e9417c" /><Relationship Type="http://schemas.openxmlformats.org/officeDocument/2006/relationships/image" Target="/ppt/media/image19.png" Id="Rf07511141d634b77" /><Relationship Type="http://schemas.openxmlformats.org/officeDocument/2006/relationships/hyperlink" Target="https://miko.ai/" TargetMode="External" Id="Rc834b2fd0951448f" /><Relationship Type="http://schemas.openxmlformats.org/officeDocument/2006/relationships/hyperlink" Target="https://amazon.in/" TargetMode="External" Id="R6cdafb339bcf4375" /><Relationship Type="http://schemas.openxmlformats.org/officeDocument/2006/relationships/hyperlink" Target="https://makewonder.com/" TargetMode="External" Id="Ra3c9f8795eae43fc" /><Relationship Type="http://schemas.openxmlformats.org/officeDocument/2006/relationships/hyperlink" Target="https://living.ai/" TargetMode="External" Id="Ra6272a64cffa4776" /><Relationship Type="http://schemas.openxmlformats.org/officeDocument/2006/relationships/notesSlide" Target="/ppt/notesSlides/notesSlide9.xml" Id="Rf70243ebbea945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86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ADABBF30-85DD-4FE2-BD83-FF29B9B8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587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E8D88B19-25F2-4D9B-B4FD-692259E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rgbClr val="7F7F7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48595" name="Google Shape;9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409c5da182406d">
            <a:alphaModFix/>
          </a:blip>
          <a:srcRect xmlns:a="http://schemas.openxmlformats.org/drawingml/2006/main" l="0" t="0" r="599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588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7DC486D6-3C0C-408A-910E-979C45DEC1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8589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BBF716F2-8668-451D-92E5-BA5479E24C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4000" b="1">
                <a:solidFill>
                  <a:schemeClr val="dk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48590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81E82D88-8EA2-4F8B-BC17-8195026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74" y="1864025"/>
            <a:ext cx="6375000" cy="435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Problem Statement number- SIH26224</a:t>
            </a:r>
            <a:endParaRPr sz="2400"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marR="0" lvl="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Problem Statement Title- Student Innovation</a:t>
            </a:r>
            <a:endParaRPr sz="2400"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marR="0" lvl="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Theme- Smart Education</a:t>
            </a:r>
            <a:endParaRPr sz="2400"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marR="0" lvl="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PS Category- Hardware</a:t>
            </a:r>
            <a:endParaRPr sz="2400"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marR="0" lvl="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Team Name- HackTuah</a:t>
            </a:r>
            <a:endParaRPr sz="2400"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48599" name="Google Shape;9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9c437bad8a4f40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682924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98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6141F1E8-21AC-45B0-9169-564824CE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599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5E4B4A14-4E88-4C46-BC90-2210A97C5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1048600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D14E6925-6764-41B5-A375-3D8794ABBA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01" name="Google Shape;104;p2">
            <a:extLst xmlns:a="http://schemas.openxmlformats.org/drawingml/2006/main">
              <a:ext uri="{FF2B5EF4-FFF2-40B4-BE49-F238E27FC236}">
                <a16:creationId xmlns:a16="http://schemas.microsoft.com/office/drawing/2014/main" id="{3C78BEBE-11AB-43F0-A6F7-C047E97275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02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9EADB296-04E5-4F35-BA5D-1BCE946E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48640" name="Google Shape;106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de63a5d91b496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603" name="TextBox 106">
            <a:extLst xmlns:a="http://schemas.openxmlformats.org/drawingml/2006/main">
              <a:ext uri="{FF2B5EF4-FFF2-40B4-BE49-F238E27FC236}">
                <a16:creationId xmlns:a16="http://schemas.microsoft.com/office/drawing/2014/main" id="{2D1E40EC-697F-4BD7-AF32-1D6256B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61872"/>
            <a:ext cx="5349240" cy="139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DETAILED EXPLANATION OF THE PROPOSED SOLUTION</a:t>
            </a:r>
          </a:p>
        </p:txBody>
      </p:sp>
      <p:sp>
        <p:nvSpPr>
          <p:cNvPr id="1048604" name="Rounded Rectangle 107">
            <a:extLst xmlns:a="http://schemas.openxmlformats.org/drawingml/2006/main">
              <a:ext uri="{FF2B5EF4-FFF2-40B4-BE49-F238E27FC236}">
                <a16:creationId xmlns:a16="http://schemas.microsoft.com/office/drawing/2014/main" id="{5BEFF124-06E6-4D95-979E-8ACAAD2C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349240" cy="1783080"/>
          </a:xfrm>
          <a:prstGeom xmlns:a="http://schemas.openxmlformats.org/drawingml/2006/main" prst="roundRect">
            <a:avLst>
              <a:gd name="adj" fmla="val 3076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05" name="TextBox 108">
            <a:extLst xmlns:a="http://schemas.openxmlformats.org/drawingml/2006/main">
              <a:ext uri="{FF2B5EF4-FFF2-40B4-BE49-F238E27FC236}">
                <a16:creationId xmlns:a16="http://schemas.microsoft.com/office/drawing/2014/main" id="{9A8CB549-8BA1-47B5-B107-97285C71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00784"/>
            <a:ext cx="4837175" cy="1351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Table Tot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AI-powered desk companion robot that lives on the student's study desk.</a:t>
            </a:r>
          </a:p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D9E2F0"/>
                </a:solidFill>
                <a:latin typeface="Arial"/>
                <a:ea typeface="Arial"/>
                <a:cs typeface="Arial"/>
              </a:rPr>
              <a:t>Learns the student's routine and study patterns, then builds personalised productivity workflows around them. </a:t>
            </a:r>
            <a:r>
              <a:rPr sz="1100" b="0" i="0">
                <a:solidFill>
                  <a:srgbClr val="D9E2F0"/>
                </a:solidFill>
                <a:latin typeface="Arial"/>
                <a:ea typeface="Arial"/>
                <a:cs typeface="Arial"/>
              </a:rPr>
              <a:t>Laptop microphone, speakers and AI with a Raspberry Pi camera and two servos.</a:t>
            </a:r>
          </a:p>
        </p:txBody>
      </p:sp>
      <p:sp>
        <p:nvSpPr>
          <p:cNvPr id="1048606" name="TextBox 109">
            <a:extLst xmlns:a="http://schemas.openxmlformats.org/drawingml/2006/main">
              <a:ext uri="{FF2B5EF4-FFF2-40B4-BE49-F238E27FC236}">
                <a16:creationId xmlns:a16="http://schemas.microsoft.com/office/drawing/2014/main" id="{DD4B8800-A135-4EE5-B1DF-9931E505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47872"/>
            <a:ext cx="534924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048607" name="Oval 110">
            <a:extLst xmlns:a="http://schemas.openxmlformats.org/drawingml/2006/main">
              <a:ext uri="{FF2B5EF4-FFF2-40B4-BE49-F238E27FC236}">
                <a16:creationId xmlns:a16="http://schemas.microsoft.com/office/drawing/2014/main" id="{76F42B68-C232-4CBB-8DD8-53F51515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913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8608" name="TextBox 111">
            <a:extLst xmlns:a="http://schemas.openxmlformats.org/drawingml/2006/main">
              <a:ext uri="{FF2B5EF4-FFF2-40B4-BE49-F238E27FC236}">
                <a16:creationId xmlns:a16="http://schemas.microsoft.com/office/drawing/2014/main" id="{82067767-69D4-4A05-ABCB-A3FA37B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58768"/>
            <a:ext cx="4937759" cy="4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2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No structured self-study guidance</a:t>
            </a:r>
          </a:p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Builds and enforces a personal study rhythm: timers, revision scheduling and reminders.</a:t>
            </a:r>
          </a:p>
        </p:txBody>
      </p:sp>
      <p:sp>
        <p:nvSpPr>
          <p:cNvPr id="1048609" name="Oval 112">
            <a:extLst xmlns:a="http://schemas.openxmlformats.org/drawingml/2006/main">
              <a:ext uri="{FF2B5EF4-FFF2-40B4-BE49-F238E27FC236}">
                <a16:creationId xmlns:a16="http://schemas.microsoft.com/office/drawing/2014/main" id="{4EA7697C-5754-4D80-9103-24C48052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69087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8610" name="TextBox 113">
            <a:extLst xmlns:a="http://schemas.openxmlformats.org/drawingml/2006/main">
              <a:ext uri="{FF2B5EF4-FFF2-40B4-BE49-F238E27FC236}">
                <a16:creationId xmlns:a16="http://schemas.microsoft.com/office/drawing/2014/main" id="{0ABC5F95-A213-435F-AD1B-6D7B2D0E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36007"/>
            <a:ext cx="4937759" cy="4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2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Study apps are easy to ignore</a:t>
            </a:r>
          </a:p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physical companion with voice, gestures and expressions creates engagement and accountability.</a:t>
            </a:r>
          </a:p>
        </p:txBody>
      </p:sp>
      <p:sp>
        <p:nvSpPr>
          <p:cNvPr id="1048611" name="Oval 114">
            <a:extLst xmlns:a="http://schemas.openxmlformats.org/drawingml/2006/main">
              <a:ext uri="{FF2B5EF4-FFF2-40B4-BE49-F238E27FC236}">
                <a16:creationId xmlns:a16="http://schemas.microsoft.com/office/drawing/2014/main" id="{6DEBFAE1-885D-4E36-9DBB-75538F7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54681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8612" name="TextBox 115">
            <a:extLst xmlns:a="http://schemas.openxmlformats.org/drawingml/2006/main">
              <a:ext uri="{FF2B5EF4-FFF2-40B4-BE49-F238E27FC236}">
                <a16:creationId xmlns:a16="http://schemas.microsoft.com/office/drawing/2014/main" id="{B6564E14-455A-4818-BBA6-245B662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13247"/>
            <a:ext cx="4937759" cy="3302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2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Parents have no visibility</a:t>
            </a:r>
          </a:p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local web dashboard shows study insights without intrusive surveillance.</a:t>
            </a:r>
          </a:p>
        </p:txBody>
      </p:sp>
      <p:sp>
        <p:nvSpPr>
          <p:cNvPr id="1048613" name="TextBox 116">
            <a:extLst xmlns:a="http://schemas.openxmlformats.org/drawingml/2006/main">
              <a:ext uri="{FF2B5EF4-FFF2-40B4-BE49-F238E27FC236}">
                <a16:creationId xmlns:a16="http://schemas.microsoft.com/office/drawing/2014/main" id="{0A5599D3-4B3D-4DC8-91B8-946DFC5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61872"/>
            <a:ext cx="5742432" cy="139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INNOVATION AND UNIQUENESS OF THE SOLUTION</a:t>
            </a:r>
          </a:p>
        </p:txBody>
      </p:sp>
      <p:sp>
        <p:nvSpPr>
          <p:cNvPr id="1048614" name="Rounded Rectangle 117">
            <a:extLst xmlns:a="http://schemas.openxmlformats.org/drawingml/2006/main">
              <a:ext uri="{FF2B5EF4-FFF2-40B4-BE49-F238E27FC236}">
                <a16:creationId xmlns:a16="http://schemas.microsoft.com/office/drawing/2014/main" id="{86E5EE39-EFF9-4CFF-BF29-FD46AEEC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572768"/>
            <a:ext cx="2779776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15" name="Oval 118">
            <a:extLst xmlns:a="http://schemas.openxmlformats.org/drawingml/2006/main">
              <a:ext uri="{FF2B5EF4-FFF2-40B4-BE49-F238E27FC236}">
                <a16:creationId xmlns:a16="http://schemas.microsoft.com/office/drawing/2014/main" id="{78AAB347-89BE-4008-8B0E-589562B1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7739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654" name="Picture 1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f7be0734d45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8379" y="186610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16" name="TextBox 120">
            <a:extLst xmlns:a="http://schemas.openxmlformats.org/drawingml/2006/main">
              <a:ext uri="{FF2B5EF4-FFF2-40B4-BE49-F238E27FC236}">
                <a16:creationId xmlns:a16="http://schemas.microsoft.com/office/drawing/2014/main" id="{6454E078-3502-4BAB-B687-442E57F1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3" y="1870710"/>
            <a:ext cx="1883664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Offline-first by design</a:t>
            </a:r>
          </a:p>
        </p:txBody>
      </p:sp>
      <p:sp>
        <p:nvSpPr>
          <p:cNvPr id="1048617" name="TextBox 121">
            <a:extLst xmlns:a="http://schemas.openxmlformats.org/drawingml/2006/main">
              <a:ext uri="{FF2B5EF4-FFF2-40B4-BE49-F238E27FC236}">
                <a16:creationId xmlns:a16="http://schemas.microsoft.com/office/drawing/2014/main" id="{C24AFFAB-762D-4956-ACDD-D8FADA4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2286000"/>
            <a:ext cx="2377440" cy="1064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buNone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small language model </a:t>
            </a: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on the laptop</a:t>
            </a: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answers questions and builds quizzes offline, and decides when a cloud LLM is really needed.</a:t>
            </a:r>
          </a:p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0070C0"/>
                </a:solidFill>
                <a:latin typeface="Arial"/>
                <a:ea typeface="Arial"/>
                <a:cs typeface="Arial"/>
              </a:rPr>
              <a:t>A student in a hostel with no WiFi still gets a full study session, quizzes included.</a:t>
            </a:r>
          </a:p>
        </p:txBody>
      </p:sp>
      <p:sp>
        <p:nvSpPr>
          <p:cNvPr id="1048618" name="Rounded Rectangle 122">
            <a:extLst xmlns:a="http://schemas.openxmlformats.org/drawingml/2006/main">
              <a:ext uri="{FF2B5EF4-FFF2-40B4-BE49-F238E27FC236}">
                <a16:creationId xmlns:a16="http://schemas.microsoft.com/office/drawing/2014/main" id="{581B6F8F-E11D-47D6-B9EB-C6665AB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572768"/>
            <a:ext cx="2779776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19" name="Oval 123">
            <a:extLst xmlns:a="http://schemas.openxmlformats.org/drawingml/2006/main">
              <a:ext uri="{FF2B5EF4-FFF2-40B4-BE49-F238E27FC236}">
                <a16:creationId xmlns:a16="http://schemas.microsoft.com/office/drawing/2014/main" id="{6AC4CE87-A8C7-405B-9FE3-8CB7D54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7739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659" name="Picture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d93d45e144d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1035" y="186610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20" name="TextBox 125">
            <a:extLst xmlns:a="http://schemas.openxmlformats.org/drawingml/2006/main">
              <a:ext uri="{FF2B5EF4-FFF2-40B4-BE49-F238E27FC236}">
                <a16:creationId xmlns:a16="http://schemas.microsoft.com/office/drawing/2014/main" id="{847465ED-CFAD-42A8-B62C-CE96DF0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773936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Age and psychology adaptive</a:t>
            </a:r>
          </a:p>
        </p:txBody>
      </p:sp>
      <p:sp>
        <p:nvSpPr>
          <p:cNvPr id="1048621" name="TextBox 126">
            <a:extLst xmlns:a="http://schemas.openxmlformats.org/drawingml/2006/main">
              <a:ext uri="{FF2B5EF4-FFF2-40B4-BE49-F238E27FC236}">
                <a16:creationId xmlns:a16="http://schemas.microsoft.com/office/drawing/2014/main" id="{86FB23FE-4F39-4537-A8BB-B6AE9DD7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286000"/>
            <a:ext cx="2377440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buNone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Difficulty, prompts, tone and personality adjust to the student's developmental stage and observed study patterns.</a:t>
            </a:r>
          </a:p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F47B20"/>
                </a:solidFill>
                <a:latin typeface="Arial"/>
                <a:ea typeface="Arial"/>
                <a:cs typeface="Arial"/>
              </a:rPr>
              <a:t>A 9-year-old gets playful story prompts; a class 12 student gets exam-style drills.</a:t>
            </a:r>
          </a:p>
        </p:txBody>
      </p:sp>
      <p:sp>
        <p:nvSpPr>
          <p:cNvPr id="1048622" name="Rounded Rectangle 127">
            <a:extLst xmlns:a="http://schemas.openxmlformats.org/drawingml/2006/main">
              <a:ext uri="{FF2B5EF4-FFF2-40B4-BE49-F238E27FC236}">
                <a16:creationId xmlns:a16="http://schemas.microsoft.com/office/drawing/2014/main" id="{E3595D84-2D7C-48A0-916E-1D7E6917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50208"/>
            <a:ext cx="2779776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23" name="Oval 128">
            <a:extLst xmlns:a="http://schemas.openxmlformats.org/drawingml/2006/main">
              <a:ext uri="{FF2B5EF4-FFF2-40B4-BE49-F238E27FC236}">
                <a16:creationId xmlns:a16="http://schemas.microsoft.com/office/drawing/2014/main" id="{8535C197-EDEF-4030-9810-F4714944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41513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664" name="Picture 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a290d4a4f4e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8379" y="424354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24" name="TextBox 130">
            <a:extLst xmlns:a="http://schemas.openxmlformats.org/drawingml/2006/main">
              <a:ext uri="{FF2B5EF4-FFF2-40B4-BE49-F238E27FC236}">
                <a16:creationId xmlns:a16="http://schemas.microsoft.com/office/drawing/2014/main" id="{4A1CACE9-D67E-478E-802A-330B962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3" y="4248149"/>
            <a:ext cx="1883664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Multi-modal interaction</a:t>
            </a:r>
          </a:p>
        </p:txBody>
      </p:sp>
      <p:sp>
        <p:nvSpPr>
          <p:cNvPr id="1048625" name="TextBox 131">
            <a:extLst xmlns:a="http://schemas.openxmlformats.org/drawingml/2006/main">
              <a:ext uri="{FF2B5EF4-FFF2-40B4-BE49-F238E27FC236}">
                <a16:creationId xmlns:a16="http://schemas.microsoft.com/office/drawing/2014/main" id="{3A94D6C5-D53D-47EF-980A-6FC9509A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4663440"/>
            <a:ext cx="2377440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buNone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voice, camera gesture control and face recognition provide hands-free study interaction.</a:t>
            </a:r>
          </a:p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2E8B3D"/>
                </a:solidFill>
                <a:latin typeface="Arial"/>
                <a:ea typeface="Arial"/>
                <a:cs typeface="Arial"/>
              </a:rPr>
              <a:t>Raise a palm to pause the timer; the camera sees when the student sits down.</a:t>
            </a:r>
          </a:p>
        </p:txBody>
      </p:sp>
      <p:sp>
        <p:nvSpPr>
          <p:cNvPr id="1048626" name="Rounded Rectangle 132">
            <a:extLst xmlns:a="http://schemas.openxmlformats.org/drawingml/2006/main">
              <a:ext uri="{FF2B5EF4-FFF2-40B4-BE49-F238E27FC236}">
                <a16:creationId xmlns:a16="http://schemas.microsoft.com/office/drawing/2014/main" id="{21BCDAB1-68F0-464A-ADDF-E7D274F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950208"/>
            <a:ext cx="2779776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27" name="Oval 133">
            <a:extLst xmlns:a="http://schemas.openxmlformats.org/drawingml/2006/main">
              <a:ext uri="{FF2B5EF4-FFF2-40B4-BE49-F238E27FC236}">
                <a16:creationId xmlns:a16="http://schemas.microsoft.com/office/drawing/2014/main" id="{1538DDBE-F0EA-4240-A01B-6E6CB4FA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41513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C6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669" name="Picture 1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a58e1a21943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1035" y="424354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28" name="TextBox 135">
            <a:extLst xmlns:a="http://schemas.openxmlformats.org/drawingml/2006/main">
              <a:ext uri="{FF2B5EF4-FFF2-40B4-BE49-F238E27FC236}">
                <a16:creationId xmlns:a16="http://schemas.microsoft.com/office/drawing/2014/main" id="{019ED4B6-0E67-4592-894C-4938DA8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248149"/>
            <a:ext cx="1883664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Dynamic personality</a:t>
            </a:r>
          </a:p>
        </p:txBody>
      </p:sp>
      <p:sp>
        <p:nvSpPr>
          <p:cNvPr id="1048629" name="TextBox 136">
            <a:extLst xmlns:a="http://schemas.openxmlformats.org/drawingml/2006/main">
              <a:ext uri="{FF2B5EF4-FFF2-40B4-BE49-F238E27FC236}">
                <a16:creationId xmlns:a16="http://schemas.microsoft.com/office/drawing/2014/main" id="{239250F0-F4F9-4932-AE6B-12B4D46A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4663440"/>
            <a:ext cx="2377440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buNone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Friend, teacher or detective personas, </a:t>
            </a: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plus expressive servo gestures</a:t>
            </a: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, keep engagement fresh across age groups.</a:t>
            </a:r>
          </a:p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4A5C68"/>
                </a:solidFill>
                <a:latin typeface="Arial"/>
                <a:ea typeface="Arial"/>
                <a:cs typeface="Arial"/>
              </a:rPr>
              <a:t>Detective mode turns a history chapter into clues to solve.</a:t>
            </a:r>
          </a:p>
        </p:txBody>
      </p:sp>
    </p:spTree>
    <p:extLst>
      <p:ext uri="{BB962C8B-B14F-4D97-AF65-F5344CB8AC3E}">
        <p14:creationId xmlns:p14="http://schemas.microsoft.com/office/powerpoint/2010/main" val="10627106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33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56B1D7FF-E725-4B63-A5D5-259555D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634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AF7A473C-B2CF-4B33-98FB-28B7F27FA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KEY FEATURES</a:t>
            </a:r>
          </a:p>
        </p:txBody>
      </p:sp>
      <p:sp>
        <p:nvSpPr>
          <p:cNvPr id="1048635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DA252050-ABF7-4F89-8103-D709470B17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36" name="Google Shape;104;p2">
            <a:extLst xmlns:a="http://schemas.openxmlformats.org/drawingml/2006/main">
              <a:ext uri="{FF2B5EF4-FFF2-40B4-BE49-F238E27FC236}">
                <a16:creationId xmlns:a16="http://schemas.microsoft.com/office/drawing/2014/main" id="{FF9C0B39-929C-4B14-B3D2-C4FD84C6F4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37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483AD1B4-3366-4898-87D3-F586D1E3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45739" name="Google Shape;106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517da3bbc647d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638" name="Rounded Rectangle 106">
            <a:extLst xmlns:a="http://schemas.openxmlformats.org/drawingml/2006/main">
              <a:ext uri="{FF2B5EF4-FFF2-40B4-BE49-F238E27FC236}">
                <a16:creationId xmlns:a16="http://schemas.microsoft.com/office/drawing/2014/main" id="{CE55061B-5969-47CD-B5D9-06C2CFE8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2724912" cy="3246120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39" name="Oval 107">
            <a:extLst xmlns:a="http://schemas.openxmlformats.org/drawingml/2006/main">
              <a:ext uri="{FF2B5EF4-FFF2-40B4-BE49-F238E27FC236}">
                <a16:creationId xmlns:a16="http://schemas.microsoft.com/office/drawing/2014/main" id="{6B19E4F3-A62D-4E0A-A9EB-0AE87F78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42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c7e347df045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1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4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B814102F-84B2-4F49-BC19-B24A42BD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623821"/>
            <a:ext cx="1828800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Study Tools</a:t>
            </a:r>
          </a:p>
        </p:txBody>
      </p:sp>
      <p:sp>
        <p:nvSpPr>
          <p:cNvPr id="104864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2A6371A6-92EE-4120-BA8E-B41B2519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39112"/>
            <a:ext cx="2322576" cy="1889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Pomodoro and normal timers, alarms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To-do list and calendar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AI tutor: </a:t>
            </a: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SLM</a:t>
            </a: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+ cloud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Quizzes and flashcards, offline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Notes with OCR from books and handwriting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Daily news and general knowledge feed</a:t>
            </a:r>
          </a:p>
        </p:txBody>
      </p:sp>
      <p:sp>
        <p:nvSpPr>
          <p:cNvPr id="1048642" name="Rounded Rectangle 111">
            <a:extLst xmlns:a="http://schemas.openxmlformats.org/drawingml/2006/main">
              <a:ext uri="{FF2B5EF4-FFF2-40B4-BE49-F238E27FC236}">
                <a16:creationId xmlns:a16="http://schemas.microsoft.com/office/drawing/2014/main" id="{20F0C30A-B854-4D3C-A44C-5094B0D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25880"/>
            <a:ext cx="2724912" cy="3246120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43" name="Oval 112">
            <a:extLst xmlns:a="http://schemas.openxmlformats.org/drawingml/2006/main">
              <a:ext uri="{FF2B5EF4-FFF2-40B4-BE49-F238E27FC236}">
                <a16:creationId xmlns:a16="http://schemas.microsoft.com/office/drawing/2014/main" id="{C5377D43-6CAB-437C-8CE0-F8F30C4F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47" name="Picture 1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b5248622a4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8517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4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3637FB60-D522-4C4B-8037-CDBB8467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1623821"/>
            <a:ext cx="1828800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Smart Interaction</a:t>
            </a:r>
          </a:p>
        </p:txBody>
      </p:sp>
      <p:sp>
        <p:nvSpPr>
          <p:cNvPr id="104864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737ABFCB-CA87-4838-B01F-E643B48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039112"/>
            <a:ext cx="2322576" cy="21971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Voice input and spoken replies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Face recognition from the Pi camera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Gesture control for hands-free use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dashboard and robot status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Servo-driven head and body movement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Student persona and pattern tracking</a:t>
            </a:r>
          </a:p>
        </p:txBody>
      </p:sp>
      <p:sp>
        <p:nvSpPr>
          <p:cNvPr id="1048646" name="Rounded Rectangle 116">
            <a:extLst xmlns:a="http://schemas.openxmlformats.org/drawingml/2006/main">
              <a:ext uri="{FF2B5EF4-FFF2-40B4-BE49-F238E27FC236}">
                <a16:creationId xmlns:a16="http://schemas.microsoft.com/office/drawing/2014/main" id="{BB4B93D9-14DD-4346-9BBD-49D8FA6C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25880"/>
            <a:ext cx="2724912" cy="3246120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47" name="Oval 117">
            <a:extLst xmlns:a="http://schemas.openxmlformats.org/drawingml/2006/main">
              <a:ext uri="{FF2B5EF4-FFF2-40B4-BE49-F238E27FC236}">
                <a16:creationId xmlns:a16="http://schemas.microsoft.com/office/drawing/2014/main" id="{FB2D29C9-8964-48F1-AEE4-F6F1995A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52" name="Picture 1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d7fe8688846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553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48" name="TextBox 119">
            <a:extLst xmlns:a="http://schemas.openxmlformats.org/drawingml/2006/main">
              <a:ext uri="{FF2B5EF4-FFF2-40B4-BE49-F238E27FC236}">
                <a16:creationId xmlns:a16="http://schemas.microsoft.com/office/drawing/2014/main" id="{05C37F51-EBC3-4BC1-80BC-58F980D7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1623821"/>
            <a:ext cx="1828800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Wellness and Safety</a:t>
            </a:r>
          </a:p>
        </p:txBody>
      </p:sp>
      <p:sp>
        <p:nvSpPr>
          <p:cNvPr id="1048649" name="TextBox 120">
            <a:extLst xmlns:a="http://schemas.openxmlformats.org/drawingml/2006/main">
              <a:ext uri="{FF2B5EF4-FFF2-40B4-BE49-F238E27FC236}">
                <a16:creationId xmlns:a16="http://schemas.microsoft.com/office/drawing/2014/main" id="{32CB53FE-20B9-469D-BE6F-C855DAC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39112"/>
            <a:ext cx="2322576" cy="1701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Hydration, posture and break reminders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Fatigue cues from camera and usage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Child-safe content filtering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All personal data stays on-device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cloud storage of face or voice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Cloud queries anonymised first</a:t>
            </a:r>
          </a:p>
        </p:txBody>
      </p:sp>
      <p:sp>
        <p:nvSpPr>
          <p:cNvPr id="1048650" name="Rounded Rectangle 121">
            <a:extLst xmlns:a="http://schemas.openxmlformats.org/drawingml/2006/main">
              <a:ext uri="{FF2B5EF4-FFF2-40B4-BE49-F238E27FC236}">
                <a16:creationId xmlns:a16="http://schemas.microsoft.com/office/drawing/2014/main" id="{14BF4091-33A0-42DF-9D23-F51FBA76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59" y="1325880"/>
            <a:ext cx="2724912" cy="3246120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51" name="Oval 122">
            <a:extLst xmlns:a="http://schemas.openxmlformats.org/drawingml/2006/main">
              <a:ext uri="{FF2B5EF4-FFF2-40B4-BE49-F238E27FC236}">
                <a16:creationId xmlns:a16="http://schemas.microsoft.com/office/drawing/2014/main" id="{7F0C1850-4F6F-4F0B-B854-289C939B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C6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57" name="Picture 1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746286ead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589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52" name="TextBox 124">
            <a:extLst xmlns:a="http://schemas.openxmlformats.org/drawingml/2006/main">
              <a:ext uri="{FF2B5EF4-FFF2-40B4-BE49-F238E27FC236}">
                <a16:creationId xmlns:a16="http://schemas.microsoft.com/office/drawing/2014/main" id="{5D5CD137-02B4-4FFF-A80A-D7759AD5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1623821"/>
            <a:ext cx="1828800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Parent Dashboard</a:t>
            </a:r>
          </a:p>
        </p:txBody>
      </p:sp>
      <p:sp>
        <p:nvSpPr>
          <p:cNvPr id="1048653" name="TextBox 125">
            <a:extLst xmlns:a="http://schemas.openxmlformats.org/drawingml/2006/main">
              <a:ext uri="{FF2B5EF4-FFF2-40B4-BE49-F238E27FC236}">
                <a16:creationId xmlns:a16="http://schemas.microsoft.com/office/drawing/2014/main" id="{7EE26770-C6A5-4AAD-92D4-9E35153F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039112"/>
            <a:ext cx="2322576" cy="1955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KPI tracking: focus time, streaks, quiz scores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Study insights and weekly summaries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Controls over bot behaviour and limits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Upload notes, syllabus and homework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Any browser on the home WiFi, no app install</a:t>
            </a:r>
          </a:p>
        </p:txBody>
      </p:sp>
      <p:sp>
        <p:nvSpPr>
          <p:cNvPr id="1048654" name="TextBox 126">
            <a:extLst xmlns:a="http://schemas.openxmlformats.org/drawingml/2006/main">
              <a:ext uri="{FF2B5EF4-FFF2-40B4-BE49-F238E27FC236}">
                <a16:creationId xmlns:a16="http://schemas.microsoft.com/office/drawing/2014/main" id="{F579227E-BD14-440A-9CC6-475B0F49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0"/>
            <a:ext cx="9144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A STUDY SESSION WITH TABLE TOT</a:t>
            </a:r>
          </a:p>
        </p:txBody>
      </p:sp>
      <p:sp>
        <p:nvSpPr>
          <p:cNvPr id="3145728" name="Connector 127">
            <a:extLst xmlns:a="http://schemas.openxmlformats.org/drawingml/2006/main">
              <a:ext uri="{FF2B5EF4-FFF2-40B4-BE49-F238E27FC236}">
                <a16:creationId xmlns:a16="http://schemas.microsoft.com/office/drawing/2014/main" id="{38A88565-A0D7-452F-BD7E-8410E5F8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0"/>
            <a:ext cx="909279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D6DCE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655" name="Oval 128">
            <a:extLst xmlns:a="http://schemas.openxmlformats.org/drawingml/2006/main">
              <a:ext uri="{FF2B5EF4-FFF2-40B4-BE49-F238E27FC236}">
                <a16:creationId xmlns:a16="http://schemas.microsoft.com/office/drawing/2014/main" id="{97FCD3FB-0D05-4A8D-BC64-4E42AEB4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9560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48656" name="TextBox 129">
            <a:extLst xmlns:a="http://schemas.openxmlformats.org/drawingml/2006/main">
              <a:ext uri="{FF2B5EF4-FFF2-40B4-BE49-F238E27FC236}">
                <a16:creationId xmlns:a16="http://schemas.microsoft.com/office/drawing/2014/main" id="{D342520C-E35A-4DDB-B3F9-53F0DE10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58383"/>
            <a:ext cx="1998878" cy="4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Student sits down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Pi camera sees the student, laptop recognises the face</a:t>
            </a:r>
          </a:p>
        </p:txBody>
      </p:sp>
      <p:sp>
        <p:nvSpPr>
          <p:cNvPr id="1048657" name="Oval 130">
            <a:extLst xmlns:a="http://schemas.openxmlformats.org/drawingml/2006/main">
              <a:ext uri="{FF2B5EF4-FFF2-40B4-BE49-F238E27FC236}">
                <a16:creationId xmlns:a16="http://schemas.microsoft.com/office/drawing/2014/main" id="{033BDD4E-774F-4EE6-8DF1-E87ADCCD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678" y="49560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48658" name="TextBox 131">
            <a:extLst xmlns:a="http://schemas.openxmlformats.org/drawingml/2006/main">
              <a:ext uri="{FF2B5EF4-FFF2-40B4-BE49-F238E27FC236}">
                <a16:creationId xmlns:a16="http://schemas.microsoft.com/office/drawing/2014/main" id="{D345DFEC-86F1-4A46-862D-5A46AF8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678" y="5358383"/>
            <a:ext cx="1998878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Plan the session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Today's to-dos, syllabus and due homework</a:t>
            </a:r>
          </a:p>
        </p:txBody>
      </p:sp>
      <p:sp>
        <p:nvSpPr>
          <p:cNvPr id="1048659" name="Oval 132">
            <a:extLst xmlns:a="http://schemas.openxmlformats.org/drawingml/2006/main">
              <a:ext uri="{FF2B5EF4-FFF2-40B4-BE49-F238E27FC236}">
                <a16:creationId xmlns:a16="http://schemas.microsoft.com/office/drawing/2014/main" id="{8FF735EC-6631-49C6-A2C0-9F735F50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876" y="49560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48660" name="TextBox 133">
            <a:extLst xmlns:a="http://schemas.openxmlformats.org/drawingml/2006/main">
              <a:ext uri="{FF2B5EF4-FFF2-40B4-BE49-F238E27FC236}">
                <a16:creationId xmlns:a16="http://schemas.microsoft.com/office/drawing/2014/main" id="{6E12200B-8891-4EFB-BC4D-F545E26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876" y="5358383"/>
            <a:ext cx="1998878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Focus block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Pomodoro timer, posture and hydration nudges</a:t>
            </a:r>
          </a:p>
        </p:txBody>
      </p:sp>
      <p:sp>
        <p:nvSpPr>
          <p:cNvPr id="1048661" name="Oval 134">
            <a:extLst xmlns:a="http://schemas.openxmlformats.org/drawingml/2006/main">
              <a:ext uri="{FF2B5EF4-FFF2-40B4-BE49-F238E27FC236}">
                <a16:creationId xmlns:a16="http://schemas.microsoft.com/office/drawing/2014/main" id="{2CF6C9F6-6E14-4CE4-99F1-D32ADD5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075" y="49560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48662" name="TextBox 135">
            <a:extLst xmlns:a="http://schemas.openxmlformats.org/drawingml/2006/main">
              <a:ext uri="{FF2B5EF4-FFF2-40B4-BE49-F238E27FC236}">
                <a16:creationId xmlns:a16="http://schemas.microsoft.com/office/drawing/2014/main" id="{FCC9FC6F-71BF-4898-B969-193370D6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075" y="5358383"/>
            <a:ext cx="1998878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Active recall break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Voice quiz from the student's own notes</a:t>
            </a:r>
          </a:p>
        </p:txBody>
      </p:sp>
      <p:sp>
        <p:nvSpPr>
          <p:cNvPr id="1048663" name="Oval 136">
            <a:extLst xmlns:a="http://schemas.openxmlformats.org/drawingml/2006/main">
              <a:ext uri="{FF2B5EF4-FFF2-40B4-BE49-F238E27FC236}">
                <a16:creationId xmlns:a16="http://schemas.microsoft.com/office/drawing/2014/main" id="{E2FA964D-F2B1-4AE1-8B38-0FA081F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273" y="49560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48664" name="TextBox 137">
            <a:extLst xmlns:a="http://schemas.openxmlformats.org/drawingml/2006/main">
              <a:ext uri="{FF2B5EF4-FFF2-40B4-BE49-F238E27FC236}">
                <a16:creationId xmlns:a16="http://schemas.microsoft.com/office/drawing/2014/main" id="{9A28BAE9-59E5-414C-82DA-B7C949F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273" y="5358383"/>
            <a:ext cx="1998878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Wrap up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Revision scheduled, KPIs logged to dashboard</a:t>
            </a:r>
          </a:p>
        </p:txBody>
      </p:sp>
    </p:spTree>
    <p:extLst>
      <p:ext uri="{BB962C8B-B14F-4D97-AF65-F5344CB8AC3E}">
        <p14:creationId xmlns:p14="http://schemas.microsoft.com/office/powerpoint/2010/main" val="21202738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65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019FF3CD-10E3-4C02-A3CA-F6C9B74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666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FBB5D9DD-1C6C-45C4-BA98-14459905E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KEY FEATURES (CONTD.)</a:t>
            </a:r>
          </a:p>
        </p:txBody>
      </p:sp>
      <p:sp>
        <p:nvSpPr>
          <p:cNvPr id="1048667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5380766E-84B9-42E6-B52E-73A24B3B8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68" name="Google Shape;104;p2">
            <a:extLst xmlns:a="http://schemas.openxmlformats.org/drawingml/2006/main">
              <a:ext uri="{FF2B5EF4-FFF2-40B4-BE49-F238E27FC236}">
                <a16:creationId xmlns:a16="http://schemas.microsoft.com/office/drawing/2014/main" id="{579153ED-8F1C-4FC1-9CDB-32C6FC9541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69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E8A34E68-CC46-4353-8D57-A8C8573C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45738" name="Google Shape;106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b97a6edd8b49e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670" name="Rounded Rectangle 106">
            <a:extLst xmlns:a="http://schemas.openxmlformats.org/drawingml/2006/main">
              <a:ext uri="{FF2B5EF4-FFF2-40B4-BE49-F238E27FC236}">
                <a16:creationId xmlns:a16="http://schemas.microsoft.com/office/drawing/2014/main" id="{1B74C63A-895E-4206-956E-4A460E03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5577840" cy="2103120"/>
          </a:xfrm>
          <a:prstGeom xmlns:a="http://schemas.openxmlformats.org/drawingml/2006/main" prst="roundRect">
            <a:avLst>
              <a:gd name="adj" fmla="val 2608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71" name="Oval 107">
            <a:extLst xmlns:a="http://schemas.openxmlformats.org/drawingml/2006/main">
              <a:ext uri="{FF2B5EF4-FFF2-40B4-BE49-F238E27FC236}">
                <a16:creationId xmlns:a16="http://schemas.microsoft.com/office/drawing/2014/main" id="{18EC11F9-0EA8-409E-991F-3A2DC237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41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cfe6cfb2e48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1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72" name="TextBox 109">
            <a:extLst xmlns:a="http://schemas.openxmlformats.org/drawingml/2006/main">
              <a:ext uri="{FF2B5EF4-FFF2-40B4-BE49-F238E27FC236}">
                <a16:creationId xmlns:a16="http://schemas.microsoft.com/office/drawing/2014/main" id="{0F5B6BC8-8383-4DFA-8FD0-39C943D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623821"/>
            <a:ext cx="4681727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Content Intelligence</a:t>
            </a:r>
          </a:p>
        </p:txBody>
      </p:sp>
      <p:sp>
        <p:nvSpPr>
          <p:cNvPr id="1048673" name="TextBox 110">
            <a:extLst xmlns:a="http://schemas.openxmlformats.org/drawingml/2006/main">
              <a:ext uri="{FF2B5EF4-FFF2-40B4-BE49-F238E27FC236}">
                <a16:creationId xmlns:a16="http://schemas.microsoft.com/office/drawing/2014/main" id="{4CEFC56B-3320-461A-A907-5147763B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39112"/>
            <a:ext cx="5175503" cy="1079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Syllabus ingestion and automatic study planner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Last-minute revision notes generation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Spaced-repetition revision scheduling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Homework upload and tracking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Curated open-source videos and articles</a:t>
            </a:r>
          </a:p>
        </p:txBody>
      </p:sp>
      <p:sp>
        <p:nvSpPr>
          <p:cNvPr id="1048674" name="Rounded Rectangle 111">
            <a:extLst xmlns:a="http://schemas.openxmlformats.org/drawingml/2006/main">
              <a:ext uri="{FF2B5EF4-FFF2-40B4-BE49-F238E27FC236}">
                <a16:creationId xmlns:a16="http://schemas.microsoft.com/office/drawing/2014/main" id="{C23049BA-4DB0-497B-AD98-A71F934D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25880"/>
            <a:ext cx="5577840" cy="2103120"/>
          </a:xfrm>
          <a:prstGeom xmlns:a="http://schemas.openxmlformats.org/drawingml/2006/main" prst="roundRect">
            <a:avLst>
              <a:gd name="adj" fmla="val 2608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75" name="Oval 112">
            <a:extLst xmlns:a="http://schemas.openxmlformats.org/drawingml/2006/main">
              <a:ext uri="{FF2B5EF4-FFF2-40B4-BE49-F238E27FC236}">
                <a16:creationId xmlns:a16="http://schemas.microsoft.com/office/drawing/2014/main" id="{715161B9-1291-46DC-B6BD-AC3C1C5F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46" name="Picture 1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4557fc8e24e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2971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676" name="TextBox 114">
            <a:extLst xmlns:a="http://schemas.openxmlformats.org/drawingml/2006/main">
              <a:ext uri="{FF2B5EF4-FFF2-40B4-BE49-F238E27FC236}">
                <a16:creationId xmlns:a16="http://schemas.microsoft.com/office/drawing/2014/main" id="{5E5F2935-60C5-4D16-B89D-E1C101CD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1623821"/>
            <a:ext cx="4681727" cy="1905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Engagement and Learning Modes</a:t>
            </a:r>
          </a:p>
        </p:txBody>
      </p:sp>
      <p:sp>
        <p:nvSpPr>
          <p:cNvPr id="1048677" name="TextBox 115">
            <a:extLst xmlns:a="http://schemas.openxmlformats.org/drawingml/2006/main">
              <a:ext uri="{FF2B5EF4-FFF2-40B4-BE49-F238E27FC236}">
                <a16:creationId xmlns:a16="http://schemas.microsoft.com/office/drawing/2014/main" id="{7E5618FC-D3CE-42B1-BBC1-78373C5C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9112"/>
            <a:ext cx="5175503" cy="1079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Robot personalities: friend, teacher, detective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Story-based and game-based learning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Competitive mode and group learning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Public speaking and language practice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Concept animations generated with Manim</a:t>
            </a:r>
          </a:p>
        </p:txBody>
      </p:sp>
      <p:sp>
        <p:nvSpPr>
          <p:cNvPr id="1048678" name="TextBox 116">
            <a:extLst xmlns:a="http://schemas.openxmlformats.org/drawingml/2006/main">
              <a:ext uri="{FF2B5EF4-FFF2-40B4-BE49-F238E27FC236}">
                <a16:creationId xmlns:a16="http://schemas.microsoft.com/office/drawing/2014/main" id="{8F7988D3-BE58-432A-998B-2D7ED682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57600"/>
            <a:ext cx="73152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CONNECTIVITY MODEL: SELF-SUFFICIENT OFFLINE, SMARTER ONLINE</a:t>
            </a:r>
          </a:p>
        </p:txBody>
      </p:sp>
      <p:sp>
        <p:nvSpPr>
          <p:cNvPr id="1048679" name="Rounded Rectangle 117">
            <a:extLst xmlns:a="http://schemas.openxmlformats.org/drawingml/2006/main">
              <a:ext uri="{FF2B5EF4-FFF2-40B4-BE49-F238E27FC236}">
                <a16:creationId xmlns:a16="http://schemas.microsoft.com/office/drawing/2014/main" id="{86955D4F-F815-4559-A0D3-E113559C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68496"/>
            <a:ext cx="5257800" cy="2203704"/>
          </a:xfrm>
          <a:prstGeom xmlns:a="http://schemas.openxmlformats.org/drawingml/2006/main" prst="roundRect">
            <a:avLst>
              <a:gd name="adj" fmla="val 2489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80" name="Oval 118">
            <a:extLst xmlns:a="http://schemas.openxmlformats.org/drawingml/2006/main">
              <a:ext uri="{FF2B5EF4-FFF2-40B4-BE49-F238E27FC236}">
                <a16:creationId xmlns:a16="http://schemas.microsoft.com/office/drawing/2014/main" id="{30888DD5-40D8-413F-9354-9D9983C2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8681" name="TextBox 119">
            <a:extLst xmlns:a="http://schemas.openxmlformats.org/drawingml/2006/main">
              <a:ext uri="{FF2B5EF4-FFF2-40B4-BE49-F238E27FC236}">
                <a16:creationId xmlns:a16="http://schemas.microsoft.com/office/drawing/2014/main" id="{9D459AA9-09F4-4EC7-B893-C8949DEB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45355"/>
            <a:ext cx="4434840" cy="1778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OFFLINE MODE</a:t>
            </a: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   always available</a:t>
            </a:r>
          </a:p>
        </p:txBody>
      </p:sp>
      <p:sp>
        <p:nvSpPr>
          <p:cNvPr id="1048682" name="TextBox 120">
            <a:extLst xmlns:a="http://schemas.openxmlformats.org/drawingml/2006/main">
              <a:ext uri="{FF2B5EF4-FFF2-40B4-BE49-F238E27FC236}">
                <a16:creationId xmlns:a16="http://schemas.microsoft.com/office/drawing/2014/main" id="{24A9E3A4-24BF-4824-AF60-AB80551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26864"/>
            <a:ext cx="2377440" cy="655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Timers, alarms, calendar, to-do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SLM</a:t>
            </a: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: Q&amp;A and quizzes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Moonshine STT and Kokoro TTS</a:t>
            </a:r>
          </a:p>
        </p:txBody>
      </p:sp>
      <p:sp>
        <p:nvSpPr>
          <p:cNvPr id="1048683" name="TextBox 121">
            <a:extLst xmlns:a="http://schemas.openxmlformats.org/drawingml/2006/main">
              <a:ext uri="{FF2B5EF4-FFF2-40B4-BE49-F238E27FC236}">
                <a16:creationId xmlns:a16="http://schemas.microsoft.com/office/drawing/2014/main" id="{D3412DBC-3663-491F-9DDB-A5E6722B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26864"/>
            <a:ext cx="2377440" cy="64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Face detection (YuNet)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Wellness reminders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Scheduling, persona, KPIs</a:t>
            </a:r>
          </a:p>
        </p:txBody>
      </p:sp>
      <p:sp>
        <p:nvSpPr>
          <p:cNvPr id="1048684" name="TextBox 122">
            <a:extLst xmlns:a="http://schemas.openxmlformats.org/drawingml/2006/main">
              <a:ext uri="{FF2B5EF4-FFF2-40B4-BE49-F238E27FC236}">
                <a16:creationId xmlns:a16="http://schemas.microsoft.com/office/drawing/2014/main" id="{6A849366-17F7-4270-B9C5-B7CF98C7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28029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Storage: SQLite, the SLM, schedules and persona data stay on the laptop.</a:t>
            </a:r>
          </a:p>
        </p:txBody>
      </p:sp>
      <p:sp>
        <p:nvSpPr>
          <p:cNvPr id="1048685" name="Rounded Rectangle 123">
            <a:extLst xmlns:a="http://schemas.openxmlformats.org/drawingml/2006/main">
              <a:ext uri="{FF2B5EF4-FFF2-40B4-BE49-F238E27FC236}">
                <a16:creationId xmlns:a16="http://schemas.microsoft.com/office/drawing/2014/main" id="{7191F27F-8B2E-4407-B912-CD96D1F0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68496"/>
            <a:ext cx="5257800" cy="2203704"/>
          </a:xfrm>
          <a:prstGeom xmlns:a="http://schemas.openxmlformats.org/drawingml/2006/main" prst="roundRect">
            <a:avLst>
              <a:gd name="adj" fmla="val 2489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86" name="Oval 124">
            <a:extLst xmlns:a="http://schemas.openxmlformats.org/drawingml/2006/main">
              <a:ext uri="{FF2B5EF4-FFF2-40B4-BE49-F238E27FC236}">
                <a16:creationId xmlns:a16="http://schemas.microsoft.com/office/drawing/2014/main" id="{D36F6F7A-8E0A-4B85-9AE7-6C55AC19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605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8687" name="TextBox 125">
            <a:extLst xmlns:a="http://schemas.openxmlformats.org/drawingml/2006/main">
              <a:ext uri="{FF2B5EF4-FFF2-40B4-BE49-F238E27FC236}">
                <a16:creationId xmlns:a16="http://schemas.microsoft.com/office/drawing/2014/main" id="{E70F064B-2ABB-454C-98F5-29B23C31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245355"/>
            <a:ext cx="4434840" cy="1778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ONLINE MODE</a:t>
            </a: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   when WiFi is available</a:t>
            </a:r>
          </a:p>
        </p:txBody>
      </p:sp>
      <p:sp>
        <p:nvSpPr>
          <p:cNvPr id="1048688" name="TextBox 126">
            <a:extLst xmlns:a="http://schemas.openxmlformats.org/drawingml/2006/main">
              <a:ext uri="{FF2B5EF4-FFF2-40B4-BE49-F238E27FC236}">
                <a16:creationId xmlns:a16="http://schemas.microsoft.com/office/drawing/2014/main" id="{A9D9F799-E820-4FFD-8AB7-AAAEB7DF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626864"/>
            <a:ext cx="2377440" cy="64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Cloud LLM for hard questions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New flashcards and quizzes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Daily news and GK feed</a:t>
            </a:r>
          </a:p>
        </p:txBody>
      </p:sp>
      <p:sp>
        <p:nvSpPr>
          <p:cNvPr id="1048689" name="TextBox 127">
            <a:extLst xmlns:a="http://schemas.openxmlformats.org/drawingml/2006/main">
              <a:ext uri="{FF2B5EF4-FFF2-40B4-BE49-F238E27FC236}">
                <a16:creationId xmlns:a16="http://schemas.microsoft.com/office/drawing/2014/main" id="{61C32EB4-A5A1-4FE1-B225-CE81B49D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4626864"/>
            <a:ext cx="2377440" cy="6477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Whisper STT, ElevenLabs TTS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Module download and updates</a:t>
            </a:r>
          </a:p>
          <a:p xmlns:a="http://schemas.openxmlformats.org/drawingml/2006/main">
            <a:pPr marL="164592" indent="-164592" algn="l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Syllabus and content ingestion</a:t>
            </a:r>
          </a:p>
        </p:txBody>
      </p:sp>
      <p:sp>
        <p:nvSpPr>
          <p:cNvPr id="1048690" name="TextBox 128">
            <a:extLst xmlns:a="http://schemas.openxmlformats.org/drawingml/2006/main">
              <a:ext uri="{FF2B5EF4-FFF2-40B4-BE49-F238E27FC236}">
                <a16:creationId xmlns:a16="http://schemas.microsoft.com/office/drawing/2014/main" id="{1AA23329-3D83-44E2-965C-85CA13E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5828029"/>
            <a:ext cx="4800600" cy="139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Escalation: </a:t>
            </a:r>
            <a:r>
              <a:rPr sz="10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queries are anonymised before sending; no personal data is pushed.</a:t>
            </a:r>
          </a:p>
        </p:txBody>
      </p:sp>
      <p:sp>
        <p:nvSpPr>
          <p:cNvPr id="3145729" name="Connector 129">
            <a:extLst xmlns:a="http://schemas.openxmlformats.org/drawingml/2006/main">
              <a:ext uri="{FF2B5EF4-FFF2-40B4-BE49-F238E27FC236}">
                <a16:creationId xmlns:a16="http://schemas.microsoft.com/office/drawing/2014/main" id="{C3D1E89E-1E93-40A0-AA6F-0DAF6934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5070348"/>
            <a:ext cx="676656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691" name="TextBox 130">
            <a:extLst xmlns:a="http://schemas.openxmlformats.org/drawingml/2006/main">
              <a:ext uri="{FF2B5EF4-FFF2-40B4-BE49-F238E27FC236}">
                <a16:creationId xmlns:a16="http://schemas.microsoft.com/office/drawing/2014/main" id="{992A93F7-9E46-449E-965B-9B7D648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742179"/>
            <a:ext cx="822960" cy="1270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1048692" name="TextBox 131">
            <a:extLst xmlns:a="http://schemas.openxmlformats.org/drawingml/2006/main">
              <a:ext uri="{FF2B5EF4-FFF2-40B4-BE49-F238E27FC236}">
                <a16:creationId xmlns:a16="http://schemas.microsoft.com/office/drawing/2014/main" id="{F3A97D27-CF77-4E13-A6C9-2A74E433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5161788"/>
            <a:ext cx="822960" cy="1270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decides</a:t>
            </a:r>
          </a:p>
        </p:txBody>
      </p:sp>
    </p:spTree>
    <p:extLst>
      <p:ext uri="{BB962C8B-B14F-4D97-AF65-F5344CB8AC3E}">
        <p14:creationId xmlns:p14="http://schemas.microsoft.com/office/powerpoint/2010/main" val="4242154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93" name="Google Shape;112;p3">
            <a:extLst xmlns:a="http://schemas.openxmlformats.org/drawingml/2006/main">
              <a:ext uri="{FF2B5EF4-FFF2-40B4-BE49-F238E27FC236}">
                <a16:creationId xmlns:a16="http://schemas.microsoft.com/office/drawing/2014/main" id="{591E4781-CADF-4740-9E44-7A3E0793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694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C717CEA7-9344-4993-8C91-247F8482B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048695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69641B7C-94A9-48E0-A8CF-0D9AAB9B5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9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D494A0A4-8BCB-4047-B760-63089F1765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97" name="Google Shape;117;p3">
            <a:extLst xmlns:a="http://schemas.openxmlformats.org/drawingml/2006/main">
              <a:ext uri="{FF2B5EF4-FFF2-40B4-BE49-F238E27FC236}">
                <a16:creationId xmlns:a16="http://schemas.microsoft.com/office/drawing/2014/main" id="{CCD73868-A670-4458-939E-5F1DC7E9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45743" name="Google Shape;1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0d7311e42b45d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698" name="Rounded Rectangle 118">
            <a:extLst xmlns:a="http://schemas.openxmlformats.org/drawingml/2006/main">
              <a:ext uri="{FF2B5EF4-FFF2-40B4-BE49-F238E27FC236}">
                <a16:creationId xmlns:a16="http://schemas.microsoft.com/office/drawing/2014/main" id="{BFA82AB9-DC23-43E8-9D8E-4836C4D0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3931920" cy="278892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699" name="Oval 119">
            <a:extLst xmlns:a="http://schemas.openxmlformats.org/drawingml/2006/main">
              <a:ext uri="{FF2B5EF4-FFF2-40B4-BE49-F238E27FC236}">
                <a16:creationId xmlns:a16="http://schemas.microsoft.com/office/drawing/2014/main" id="{8684F672-8EC0-4AE5-A7CF-A0238C7E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46" name="Picture 1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f2bb4903c4c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1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700" name="TextBox 121">
            <a:extLst xmlns:a="http://schemas.openxmlformats.org/drawingml/2006/main">
              <a:ext uri="{FF2B5EF4-FFF2-40B4-BE49-F238E27FC236}">
                <a16:creationId xmlns:a16="http://schemas.microsoft.com/office/drawing/2014/main" id="{687BA8D3-4F49-4F87-AD5A-77B564B6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527048"/>
            <a:ext cx="3035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1048701" name="TextBox 122">
            <a:extLst xmlns:a="http://schemas.openxmlformats.org/drawingml/2006/main">
              <a:ext uri="{FF2B5EF4-FFF2-40B4-BE49-F238E27FC236}">
                <a16:creationId xmlns:a16="http://schemas.microsoft.com/office/drawing/2014/main" id="{7B003F14-5FDF-41A3-ADF6-76D1BB1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39112"/>
            <a:ext cx="3529584" cy="1497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 compute, mic, speaker and screen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Raspberry Pi 5  camera and servo bridge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2 x servos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head and body movement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Camera module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face, gesture, OCR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Local LAN  JPEG up, JSON commands down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Pi software  camera capture and PWM only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Current build  no PIR or Pi audio/display</a:t>
            </a:r>
          </a:p>
        </p:txBody>
      </p:sp>
      <p:sp>
        <p:nvSpPr>
          <p:cNvPr id="1048702" name="TextBox 123">
            <a:extLst xmlns:a="http://schemas.openxmlformats.org/drawingml/2006/main">
              <a:ext uri="{FF2B5EF4-FFF2-40B4-BE49-F238E27FC236}">
                <a16:creationId xmlns:a16="http://schemas.microsoft.com/office/drawing/2014/main" id="{9E457EAE-3687-4A57-BAA9-DBF05E6D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566160"/>
            <a:ext cx="3529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F47B20"/>
                </a:solidFill>
                <a:latin typeface="Arial"/>
                <a:ea typeface="Arial"/>
                <a:cs typeface="Arial"/>
              </a:rPr>
              <a:t>Pi, servos and camera in hand. </a:t>
            </a: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BOM stays affordable.</a:t>
            </a:r>
          </a:p>
        </p:txBody>
      </p:sp>
      <p:sp>
        <p:nvSpPr>
          <p:cNvPr id="1048703" name="Rounded Rectangle 124">
            <a:extLst xmlns:a="http://schemas.openxmlformats.org/drawingml/2006/main">
              <a:ext uri="{FF2B5EF4-FFF2-40B4-BE49-F238E27FC236}">
                <a16:creationId xmlns:a16="http://schemas.microsoft.com/office/drawing/2014/main" id="{7FAA5504-2E1B-4E9E-9BCE-87DFE9E8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325880"/>
            <a:ext cx="7251192" cy="278892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04" name="Oval 125">
            <a:extLst xmlns:a="http://schemas.openxmlformats.org/drawingml/2006/main">
              <a:ext uri="{FF2B5EF4-FFF2-40B4-BE49-F238E27FC236}">
                <a16:creationId xmlns:a16="http://schemas.microsoft.com/office/drawing/2014/main" id="{2CCAE417-8A1D-4789-ADA6-02818E77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52" name="Picture 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c2dbe1016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1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705" name="TextBox 127">
            <a:extLst xmlns:a="http://schemas.openxmlformats.org/drawingml/2006/main">
              <a:ext uri="{FF2B5EF4-FFF2-40B4-BE49-F238E27FC236}">
                <a16:creationId xmlns:a16="http://schemas.microsoft.com/office/drawing/2014/main" id="{8108612E-8A54-430C-8EFC-DB379F90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1527048"/>
            <a:ext cx="63550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Software Stack</a:t>
            </a:r>
          </a:p>
        </p:txBody>
      </p:sp>
      <p:sp>
        <p:nvSpPr>
          <p:cNvPr id="1048706" name="TextBox 128">
            <a:extLst xmlns:a="http://schemas.openxmlformats.org/drawingml/2006/main">
              <a:ext uri="{FF2B5EF4-FFF2-40B4-BE49-F238E27FC236}">
                <a16:creationId xmlns:a16="http://schemas.microsoft.com/office/drawing/2014/main" id="{7C7BE605-DD8D-4B19-91B3-30DB460C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039112"/>
            <a:ext cx="3332987" cy="1863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Python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FastAPI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REST API server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on the laptop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SQLite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offline-first, zero-setup local DB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OpenCV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Moonshine + Piper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offline speech in and out</a:t>
            </a:r>
          </a:p>
        </p:txBody>
      </p:sp>
      <p:sp>
        <p:nvSpPr>
          <p:cNvPr id="1048707" name="TextBox 129">
            <a:extLst xmlns:a="http://schemas.openxmlformats.org/drawingml/2006/main">
              <a:ext uri="{FF2B5EF4-FFF2-40B4-BE49-F238E27FC236}">
                <a16:creationId xmlns:a16="http://schemas.microsoft.com/office/drawing/2014/main" id="{B7D01979-3830-4A83-91D0-60C60631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315" y="2039112"/>
            <a:ext cx="3332987" cy="8002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screen  dashboard and robot status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React + Vite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parent dashboard over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WiFi</a:t>
            </a:r>
            <a:endParaRPr sz="1050" b="0" i="0">
              <a:solidFill>
                <a:srgbClr val="1F29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Local SLM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Qwen via Ollama</a:t>
            </a:r>
          </a:p>
          <a:p xmlns:a="http://schemas.openxmlformats.org/drawingml/2006/main">
            <a:pPr marL="164592" indent="-164592" algn="l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Ingestion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pdfplumber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, Tesseract,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FFmpeg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, Whisper</a:t>
            </a:r>
          </a:p>
        </p:txBody>
      </p:sp>
      <p:sp>
        <p:nvSpPr>
          <p:cNvPr id="1048708" name="TextBox 130">
            <a:extLst xmlns:a="http://schemas.openxmlformats.org/drawingml/2006/main">
              <a:ext uri="{FF2B5EF4-FFF2-40B4-BE49-F238E27FC236}">
                <a16:creationId xmlns:a16="http://schemas.microsoft.com/office/drawing/2014/main" id="{A5D548BC-5502-4828-996E-5A6E9FDC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VOICE PIPELINE: </a:t>
            </a: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LAPTOP SLM FIRST</a:t>
            </a: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, CLOUD LLM ONLY WHEN NEEDED</a:t>
            </a:r>
          </a:p>
        </p:txBody>
      </p:sp>
      <p:sp>
        <p:nvSpPr>
          <p:cNvPr id="1048709" name="Rounded Rectangle 131">
            <a:extLst xmlns:a="http://schemas.openxmlformats.org/drawingml/2006/main">
              <a:ext uri="{FF2B5EF4-FFF2-40B4-BE49-F238E27FC236}">
                <a16:creationId xmlns:a16="http://schemas.microsoft.com/office/drawing/2014/main" id="{8261983E-D322-43AD-9D1D-ECAB54E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53712"/>
            <a:ext cx="162763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10" name="TextBox 132">
            <a:extLst xmlns:a="http://schemas.openxmlformats.org/drawingml/2006/main">
              <a:ext uri="{FF2B5EF4-FFF2-40B4-BE49-F238E27FC236}">
                <a16:creationId xmlns:a16="http://schemas.microsoft.com/office/drawing/2014/main" id="{C89B21D8-D621-408C-B43F-7F0DC26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0288"/>
            <a:ext cx="1536192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4A5C68"/>
                </a:solidFill>
                <a:latin typeface="Arial"/>
                <a:ea typeface="Arial"/>
                <a:cs typeface="Arial"/>
              </a:rPr>
              <a:t>Laptop mic</a:t>
            </a:r>
          </a:p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4A5C68"/>
                </a:solidFill>
                <a:latin typeface="Arial"/>
                <a:ea typeface="Arial"/>
                <a:cs typeface="Arial"/>
              </a:rPr>
              <a:t>voice input</a:t>
            </a:r>
          </a:p>
        </p:txBody>
      </p:sp>
      <p:sp>
        <p:nvSpPr>
          <p:cNvPr id="3145730" name="Connector 133">
            <a:extLst xmlns:a="http://schemas.openxmlformats.org/drawingml/2006/main">
              <a:ext uri="{FF2B5EF4-FFF2-40B4-BE49-F238E27FC236}">
                <a16:creationId xmlns:a16="http://schemas.microsoft.com/office/drawing/2014/main" id="{602D0545-6E28-45AB-B176-51F0EE4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5033772"/>
            <a:ext cx="24688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11" name="Rounded Rectangle 134">
            <a:extLst xmlns:a="http://schemas.openxmlformats.org/drawingml/2006/main">
              <a:ext uri="{FF2B5EF4-FFF2-40B4-BE49-F238E27FC236}">
                <a16:creationId xmlns:a16="http://schemas.microsoft.com/office/drawing/2014/main" id="{DA5CB273-1130-45B0-B785-AAA2195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553712"/>
            <a:ext cx="162763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12" name="TextBox 135">
            <a:extLst xmlns:a="http://schemas.openxmlformats.org/drawingml/2006/main">
              <a:ext uri="{FF2B5EF4-FFF2-40B4-BE49-F238E27FC236}">
                <a16:creationId xmlns:a16="http://schemas.microsoft.com/office/drawing/2014/main" id="{A2DCAFDC-0986-4E51-8E17-CA64B9AF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590288"/>
            <a:ext cx="1536192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4A5C68"/>
                </a:solidFill>
                <a:latin typeface="Arial"/>
                <a:ea typeface="Arial"/>
                <a:cs typeface="Arial"/>
              </a:rPr>
              <a:t>Wake word</a:t>
            </a:r>
          </a:p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4A5C68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3145731" name="Connector 136">
            <a:extLst xmlns:a="http://schemas.openxmlformats.org/drawingml/2006/main">
              <a:ext uri="{FF2B5EF4-FFF2-40B4-BE49-F238E27FC236}">
                <a16:creationId xmlns:a16="http://schemas.microsoft.com/office/drawing/2014/main" id="{8923EDD9-1FCD-47D1-B82E-7F3C2F56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5033772"/>
            <a:ext cx="24688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13" name="Rounded Rectangle 137">
            <a:extLst xmlns:a="http://schemas.openxmlformats.org/drawingml/2006/main">
              <a:ext uri="{FF2B5EF4-FFF2-40B4-BE49-F238E27FC236}">
                <a16:creationId xmlns:a16="http://schemas.microsoft.com/office/drawing/2014/main" id="{65777ED6-0F78-4CBC-8D46-6EE8951A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4553712"/>
            <a:ext cx="162763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14" name="TextBox 138">
            <a:extLst xmlns:a="http://schemas.openxmlformats.org/drawingml/2006/main">
              <a:ext uri="{FF2B5EF4-FFF2-40B4-BE49-F238E27FC236}">
                <a16:creationId xmlns:a16="http://schemas.microsoft.com/office/drawing/2014/main" id="{43E254AC-F445-4F57-BA0B-90458CCC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4590288"/>
            <a:ext cx="1536192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Speech-to-text</a:t>
            </a:r>
          </a:p>
        </p:txBody>
      </p:sp>
      <p:sp>
        <p:nvSpPr>
          <p:cNvPr id="1048715" name="TextBox 139">
            <a:extLst xmlns:a="http://schemas.openxmlformats.org/drawingml/2006/main">
              <a:ext uri="{FF2B5EF4-FFF2-40B4-BE49-F238E27FC236}">
                <a16:creationId xmlns:a16="http://schemas.microsoft.com/office/drawing/2014/main" id="{5EFFC4EF-4023-475E-A084-743629CC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5550408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Moonshine offline</a:t>
            </a:r>
          </a:p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Whisper online</a:t>
            </a:r>
          </a:p>
        </p:txBody>
      </p:sp>
      <p:sp>
        <p:nvSpPr>
          <p:cNvPr id="3145732" name="Connector 140">
            <a:extLst xmlns:a="http://schemas.openxmlformats.org/drawingml/2006/main">
              <a:ext uri="{FF2B5EF4-FFF2-40B4-BE49-F238E27FC236}">
                <a16:creationId xmlns:a16="http://schemas.microsoft.com/office/drawing/2014/main" id="{A389397E-74C4-4F7D-B001-45AA3964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5033772"/>
            <a:ext cx="24688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16" name="Rounded Rectangle 141">
            <a:extLst xmlns:a="http://schemas.openxmlformats.org/drawingml/2006/main">
              <a:ext uri="{FF2B5EF4-FFF2-40B4-BE49-F238E27FC236}">
                <a16:creationId xmlns:a16="http://schemas.microsoft.com/office/drawing/2014/main" id="{D5B09ABE-5BB7-4297-BF00-D15517AB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4553712"/>
            <a:ext cx="162763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17" name="TextBox 142">
            <a:extLst xmlns:a="http://schemas.openxmlformats.org/drawingml/2006/main">
              <a:ext uri="{FF2B5EF4-FFF2-40B4-BE49-F238E27FC236}">
                <a16:creationId xmlns:a16="http://schemas.microsoft.com/office/drawing/2014/main" id="{2C7C4FDB-AC56-4114-93A3-8182633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590288"/>
            <a:ext cx="1536192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F47B20"/>
                </a:solidFill>
                <a:latin typeface="Arial"/>
                <a:ea typeface="Arial"/>
                <a:cs typeface="Arial"/>
              </a:rPr>
              <a:t>Intent router</a:t>
            </a:r>
          </a:p>
        </p:txBody>
      </p:sp>
      <p:sp>
        <p:nvSpPr>
          <p:cNvPr id="1048718" name="TextBox 143">
            <a:extLst xmlns:a="http://schemas.openxmlformats.org/drawingml/2006/main">
              <a:ext uri="{FF2B5EF4-FFF2-40B4-BE49-F238E27FC236}">
                <a16:creationId xmlns:a16="http://schemas.microsoft.com/office/drawing/2014/main" id="{812F1262-B74F-409F-B397-3CAC6B7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5550408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SLM on laptop</a:t>
            </a:r>
          </a:p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cloud LLM if needed</a:t>
            </a:r>
          </a:p>
        </p:txBody>
      </p:sp>
      <p:sp>
        <p:nvSpPr>
          <p:cNvPr id="3145733" name="Connector 144">
            <a:extLst xmlns:a="http://schemas.openxmlformats.org/drawingml/2006/main">
              <a:ext uri="{FF2B5EF4-FFF2-40B4-BE49-F238E27FC236}">
                <a16:creationId xmlns:a16="http://schemas.microsoft.com/office/drawing/2014/main" id="{F991AE29-736F-4945-B497-E4B6CA1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3" y="5033772"/>
            <a:ext cx="246889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19" name="Rounded Rectangle 145">
            <a:extLst xmlns:a="http://schemas.openxmlformats.org/drawingml/2006/main">
              <a:ext uri="{FF2B5EF4-FFF2-40B4-BE49-F238E27FC236}">
                <a16:creationId xmlns:a16="http://schemas.microsoft.com/office/drawing/2014/main" id="{5C72F855-E4A8-444C-BCE5-06182AB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7" y="4553712"/>
            <a:ext cx="162763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20" name="TextBox 146">
            <a:extLst xmlns:a="http://schemas.openxmlformats.org/drawingml/2006/main">
              <a:ext uri="{FF2B5EF4-FFF2-40B4-BE49-F238E27FC236}">
                <a16:creationId xmlns:a16="http://schemas.microsoft.com/office/drawing/2014/main" id="{EF220197-BD54-4B99-8453-5A28442C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590288"/>
            <a:ext cx="1536192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Text-to-speech</a:t>
            </a:r>
          </a:p>
        </p:txBody>
      </p:sp>
      <p:sp>
        <p:nvSpPr>
          <p:cNvPr id="1048721" name="TextBox 147">
            <a:extLst xmlns:a="http://schemas.openxmlformats.org/drawingml/2006/main">
              <a:ext uri="{FF2B5EF4-FFF2-40B4-BE49-F238E27FC236}">
                <a16:creationId xmlns:a16="http://schemas.microsoft.com/office/drawing/2014/main" id="{5125D32E-3B4C-4A05-87EB-C2F7C66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7" y="5550408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Piper on laptop</a:t>
            </a:r>
          </a:p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local speaker playback</a:t>
            </a:r>
          </a:p>
        </p:txBody>
      </p:sp>
      <p:sp>
        <p:nvSpPr>
          <p:cNvPr id="3145734" name="Connector 148">
            <a:extLst xmlns:a="http://schemas.openxmlformats.org/drawingml/2006/main">
              <a:ext uri="{FF2B5EF4-FFF2-40B4-BE49-F238E27FC236}">
                <a16:creationId xmlns:a16="http://schemas.microsoft.com/office/drawing/2014/main" id="{C7B63B5A-6BB8-4AC6-9FAA-B511E78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375" y="5033772"/>
            <a:ext cx="24688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22" name="Rounded Rectangle 149">
            <a:extLst xmlns:a="http://schemas.openxmlformats.org/drawingml/2006/main">
              <a:ext uri="{FF2B5EF4-FFF2-40B4-BE49-F238E27FC236}">
                <a16:creationId xmlns:a16="http://schemas.microsoft.com/office/drawing/2014/main" id="{250096B7-F07B-434D-B12F-772CD9F9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9" y="4553712"/>
            <a:ext cx="162763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9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23" name="TextBox 150">
            <a:extLst xmlns:a="http://schemas.openxmlformats.org/drawingml/2006/main">
              <a:ext uri="{FF2B5EF4-FFF2-40B4-BE49-F238E27FC236}">
                <a16:creationId xmlns:a16="http://schemas.microsoft.com/office/drawing/2014/main" id="{3084734B-7BA5-4A31-B9F9-D92489B9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59" y="4590288"/>
            <a:ext cx="1536192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Laptop speaker +</a:t>
            </a:r>
          </a:p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Pi servo motion</a:t>
            </a:r>
          </a:p>
        </p:txBody>
      </p:sp>
      <p:sp>
        <p:nvSpPr>
          <p:cNvPr id="1048724" name="ModelsHeader">
            <a:extLst xmlns:a="http://schemas.openxmlformats.org/drawingml/2006/main">
              <a:ext uri="{FF2B5EF4-FFF2-40B4-BE49-F238E27FC236}">
                <a16:creationId xmlns:a16="http://schemas.microsoft.com/office/drawing/2014/main" id="{8CDA803E-2D6B-4993-B4D6-6C4F68F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182112"/>
            <a:ext cx="68397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LAPTOP MODELS</a:t>
            </a:r>
          </a:p>
        </p:txBody>
      </p:sp>
      <p:sp>
        <p:nvSpPr>
          <p:cNvPr id="1048725" name="ModelsColA">
            <a:extLst xmlns:a="http://schemas.openxmlformats.org/drawingml/2006/main">
              <a:ext uri="{FF2B5EF4-FFF2-40B4-BE49-F238E27FC236}">
                <a16:creationId xmlns:a16="http://schemas.microsoft.com/office/drawing/2014/main" id="{90EAF93A-4EAA-46E9-A31A-BD301FD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01568"/>
            <a:ext cx="2276856" cy="1863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Piper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TTS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Lessac  voice model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Moonshine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STT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openWakeWord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wake word</a:t>
            </a:r>
          </a:p>
        </p:txBody>
      </p:sp>
      <p:sp>
        <p:nvSpPr>
          <p:cNvPr id="1048726" name="ModelsColB">
            <a:extLst xmlns:a="http://schemas.openxmlformats.org/drawingml/2006/main">
              <a:ext uri="{FF2B5EF4-FFF2-40B4-BE49-F238E27FC236}">
                <a16:creationId xmlns:a16="http://schemas.microsoft.com/office/drawing/2014/main" id="{E3C8B1F6-EDA2-4F74-A690-0487BF6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3401568"/>
            <a:ext cx="2276856" cy="1863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Silero VAD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voice activity detection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YuNet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face detection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SFace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face recognition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MobileGaze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gaze estimation</a:t>
            </a:r>
          </a:p>
        </p:txBody>
      </p:sp>
      <p:sp>
        <p:nvSpPr>
          <p:cNvPr id="1048727" name="ModelsColC">
            <a:extLst xmlns:a="http://schemas.openxmlformats.org/drawingml/2006/main">
              <a:ext uri="{FF2B5EF4-FFF2-40B4-BE49-F238E27FC236}">
                <a16:creationId xmlns:a16="http://schemas.microsoft.com/office/drawing/2014/main" id="{F0A01A5C-5F28-4A4B-9FF9-A0D2D07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401568"/>
            <a:ext cx="2286000" cy="418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Tesseract / </a:t>
            </a: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PaddleOCR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OCR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Qwen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local SLM, image + text</a:t>
            </a:r>
          </a:p>
          <a:p xmlns:a="http://schemas.openxmlformats.org/drawingml/2006/main">
            <a:pPr marL="164592" indent="-164592" algn="l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8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all-MiniLM-L6-v2</a:t>
            </a:r>
            <a:r>
              <a:rPr sz="8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 embeddings and search</a:t>
            </a:r>
          </a:p>
        </p:txBody>
      </p:sp>
    </p:spTree>
    <p:extLst>
      <p:ext uri="{BB962C8B-B14F-4D97-AF65-F5344CB8AC3E}">
        <p14:creationId xmlns:p14="http://schemas.microsoft.com/office/powerpoint/2010/main" val="9542197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731" name="Google Shape;112;p3">
            <a:extLst xmlns:a="http://schemas.openxmlformats.org/drawingml/2006/main">
              <a:ext uri="{FF2B5EF4-FFF2-40B4-BE49-F238E27FC236}">
                <a16:creationId xmlns:a16="http://schemas.microsoft.com/office/drawing/2014/main" id="{ABE7CDB3-030B-42A1-887C-96984D80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732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B8C3B801-5484-4A30-96A4-8F4FEA0C2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1048733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FCE7C75B-67A0-4BBE-BA32-420BC5FBE2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734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A4045E19-B1F1-43C6-8D91-ED3259D351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735" name="Google Shape;117;p3">
            <a:extLst xmlns:a="http://schemas.openxmlformats.org/drawingml/2006/main">
              <a:ext uri="{FF2B5EF4-FFF2-40B4-BE49-F238E27FC236}">
                <a16:creationId xmlns:a16="http://schemas.microsoft.com/office/drawing/2014/main" id="{B9199EFF-5776-4822-9A93-F8B36219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45749" name="Google Shape;1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e6f0c89e674555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736" name="TextBox 118">
            <a:extLst xmlns:a="http://schemas.openxmlformats.org/drawingml/2006/main">
              <a:ext uri="{FF2B5EF4-FFF2-40B4-BE49-F238E27FC236}">
                <a16:creationId xmlns:a16="http://schemas.microsoft.com/office/drawing/2014/main" id="{D404A1A6-FBBA-4A58-9815-FE71EBE8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4A5C68"/>
                </a:solidFill>
                <a:latin typeface="Arial"/>
                <a:ea typeface="Arial"/>
                <a:cs typeface="Arial"/>
              </a:rPr>
              <a:t>INPUTS TO LAPTOP</a:t>
            </a:r>
          </a:p>
        </p:txBody>
      </p:sp>
      <p:sp>
        <p:nvSpPr>
          <p:cNvPr id="1048737" name="Rounded Rectangle 119">
            <a:extLst xmlns:a="http://schemas.openxmlformats.org/drawingml/2006/main">
              <a:ext uri="{FF2B5EF4-FFF2-40B4-BE49-F238E27FC236}">
                <a16:creationId xmlns:a16="http://schemas.microsoft.com/office/drawing/2014/main" id="{5A37B328-E418-4236-9ED8-DD0D05BD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23317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38" name="TextBox 120">
            <a:extLst xmlns:a="http://schemas.openxmlformats.org/drawingml/2006/main">
              <a:ext uri="{FF2B5EF4-FFF2-40B4-BE49-F238E27FC236}">
                <a16:creationId xmlns:a16="http://schemas.microsoft.com/office/drawing/2014/main" id="{96C37A00-4245-4068-8EF4-8E830A7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572768"/>
            <a:ext cx="2221991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microphone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local audio</a:t>
            </a:r>
          </a:p>
        </p:txBody>
      </p:sp>
      <p:sp>
        <p:nvSpPr>
          <p:cNvPr id="1048739" name="Rounded Rectangle 121">
            <a:extLst xmlns:a="http://schemas.openxmlformats.org/drawingml/2006/main">
              <a:ext uri="{FF2B5EF4-FFF2-40B4-BE49-F238E27FC236}">
                <a16:creationId xmlns:a16="http://schemas.microsoft.com/office/drawing/2014/main" id="{5248146F-494A-47D9-B056-F7AD61B4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23317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40" name="TextBox 122">
            <a:extLst xmlns:a="http://schemas.openxmlformats.org/drawingml/2006/main">
              <a:ext uri="{FF2B5EF4-FFF2-40B4-BE49-F238E27FC236}">
                <a16:creationId xmlns:a16="http://schemas.microsoft.com/office/drawing/2014/main" id="{B0165A1C-50F6-423E-A7C7-D40D551F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395728"/>
            <a:ext cx="2221991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Pi camera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face, gesture, OCR</a:t>
            </a:r>
          </a:p>
        </p:txBody>
      </p:sp>
      <p:sp>
        <p:nvSpPr>
          <p:cNvPr id="1048741" name="Rounded Rectangle 123">
            <a:extLst xmlns:a="http://schemas.openxmlformats.org/drawingml/2006/main">
              <a:ext uri="{FF2B5EF4-FFF2-40B4-BE49-F238E27FC236}">
                <a16:creationId xmlns:a16="http://schemas.microsoft.com/office/drawing/2014/main" id="{DCFD2F7D-0F34-4EFB-A990-05DAB545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8688"/>
            <a:ext cx="23317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42" name="TextBox 124">
            <a:extLst xmlns:a="http://schemas.openxmlformats.org/drawingml/2006/main">
              <a:ext uri="{FF2B5EF4-FFF2-40B4-BE49-F238E27FC236}">
                <a16:creationId xmlns:a16="http://schemas.microsoft.com/office/drawing/2014/main" id="{1627AF56-9D6A-4F29-8D86-FEBEEBFE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218688"/>
            <a:ext cx="2221991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controls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+ keyboard</a:t>
            </a:r>
          </a:p>
        </p:txBody>
      </p:sp>
      <p:sp>
        <p:nvSpPr>
          <p:cNvPr id="1048743" name="Rounded Rectangle 125">
            <a:extLst xmlns:a="http://schemas.openxmlformats.org/drawingml/2006/main">
              <a:ext uri="{FF2B5EF4-FFF2-40B4-BE49-F238E27FC236}">
                <a16:creationId xmlns:a16="http://schemas.microsoft.com/office/drawing/2014/main" id="{A1961D93-754A-4747-8472-EFAE44B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23317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44" name="TextBox 126">
            <a:extLst xmlns:a="http://schemas.openxmlformats.org/drawingml/2006/main">
              <a:ext uri="{FF2B5EF4-FFF2-40B4-BE49-F238E27FC236}">
                <a16:creationId xmlns:a16="http://schemas.microsoft.com/office/drawing/2014/main" id="{497EB038-8EE4-40CD-8406-8C5147BC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041648"/>
            <a:ext cx="2221991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Pi telemetry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camera + servo health</a:t>
            </a:r>
          </a:p>
        </p:txBody>
      </p:sp>
      <p:sp>
        <p:nvSpPr>
          <p:cNvPr id="1048745" name="Rounded Rectangle 127">
            <a:extLst xmlns:a="http://schemas.openxmlformats.org/drawingml/2006/main">
              <a:ext uri="{FF2B5EF4-FFF2-40B4-BE49-F238E27FC236}">
                <a16:creationId xmlns:a16="http://schemas.microsoft.com/office/drawing/2014/main" id="{0A9A2A9C-983C-44BF-AB6C-1E48BE31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72768"/>
            <a:ext cx="3886200" cy="3072384"/>
          </a:xfrm>
          <a:prstGeom xmlns:a="http://schemas.openxmlformats.org/drawingml/2006/main" prst="roundRect">
            <a:avLst>
              <a:gd name="adj" fmla="val 178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46" name="TextBox 128">
            <a:extLst xmlns:a="http://schemas.openxmlformats.org/drawingml/2006/main">
              <a:ext uri="{FF2B5EF4-FFF2-40B4-BE49-F238E27FC236}">
                <a16:creationId xmlns:a16="http://schemas.microsoft.com/office/drawing/2014/main" id="{0D3EF22A-012D-4AFA-9378-F627C41E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45920"/>
            <a:ext cx="3520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LAPTOP BRAIN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C9D6EA"/>
                </a:solidFill>
                <a:latin typeface="Arial"/>
                <a:ea typeface="Arial"/>
                <a:cs typeface="Arial"/>
              </a:rPr>
              <a:t>FastAPI backend, all computation local</a:t>
            </a:r>
          </a:p>
        </p:txBody>
      </p:sp>
      <p:sp>
        <p:nvSpPr>
          <p:cNvPr id="1048747" name="Rounded Rectangle 129">
            <a:extLst xmlns:a="http://schemas.openxmlformats.org/drawingml/2006/main">
              <a:ext uri="{FF2B5EF4-FFF2-40B4-BE49-F238E27FC236}">
                <a16:creationId xmlns:a16="http://schemas.microsoft.com/office/drawing/2014/main" id="{C270441C-36F4-42C5-8F3D-9C3FE7C2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4288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48" name="TextBox 130">
            <a:extLst xmlns:a="http://schemas.openxmlformats.org/drawingml/2006/main">
              <a:ext uri="{FF2B5EF4-FFF2-40B4-BE49-F238E27FC236}">
                <a16:creationId xmlns:a16="http://schemas.microsoft.com/office/drawing/2014/main" id="{49BEE599-49D9-4156-A6C2-B248E3B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04288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STT / TTS engine</a:t>
            </a:r>
          </a:p>
        </p:txBody>
      </p:sp>
      <p:sp>
        <p:nvSpPr>
          <p:cNvPr id="1048749" name="Rounded Rectangle 131">
            <a:extLst xmlns:a="http://schemas.openxmlformats.org/drawingml/2006/main">
              <a:ext uri="{FF2B5EF4-FFF2-40B4-BE49-F238E27FC236}">
                <a16:creationId xmlns:a16="http://schemas.microsoft.com/office/drawing/2014/main" id="{B0562193-C29D-4F85-81DE-67D1DDCD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04288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50" name="TextBox 132">
            <a:extLst xmlns:a="http://schemas.openxmlformats.org/drawingml/2006/main">
              <a:ext uri="{FF2B5EF4-FFF2-40B4-BE49-F238E27FC236}">
                <a16:creationId xmlns:a16="http://schemas.microsoft.com/office/drawing/2014/main" id="{B227D687-57A3-423C-952E-25EDAEC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4288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Vision (OpenCV)</a:t>
            </a:r>
          </a:p>
        </p:txBody>
      </p:sp>
      <p:sp>
        <p:nvSpPr>
          <p:cNvPr id="1048751" name="Rounded Rectangle 133">
            <a:extLst xmlns:a="http://schemas.openxmlformats.org/drawingml/2006/main">
              <a:ext uri="{FF2B5EF4-FFF2-40B4-BE49-F238E27FC236}">
                <a16:creationId xmlns:a16="http://schemas.microsoft.com/office/drawing/2014/main" id="{A443A102-91AC-44CF-AD21-93A7D18F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1216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52" name="TextBox 134">
            <a:extLst xmlns:a="http://schemas.openxmlformats.org/drawingml/2006/main">
              <a:ext uri="{FF2B5EF4-FFF2-40B4-BE49-F238E27FC236}">
                <a16:creationId xmlns:a16="http://schemas.microsoft.com/office/drawing/2014/main" id="{2F5ADB9A-9870-493A-9D1D-42504E1A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871216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Laptop SLM (Ollama)</a:t>
            </a:r>
          </a:p>
        </p:txBody>
      </p:sp>
      <p:sp>
        <p:nvSpPr>
          <p:cNvPr id="1048753" name="Rounded Rectangle 135">
            <a:extLst xmlns:a="http://schemas.openxmlformats.org/drawingml/2006/main">
              <a:ext uri="{FF2B5EF4-FFF2-40B4-BE49-F238E27FC236}">
                <a16:creationId xmlns:a16="http://schemas.microsoft.com/office/drawing/2014/main" id="{08B261D5-F768-4AA5-920A-DBCDEE9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871216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54" name="TextBox 136">
            <a:extLst xmlns:a="http://schemas.openxmlformats.org/drawingml/2006/main">
              <a:ext uri="{FF2B5EF4-FFF2-40B4-BE49-F238E27FC236}">
                <a16:creationId xmlns:a16="http://schemas.microsoft.com/office/drawing/2014/main" id="{1D4EAF02-77BD-443D-8D5F-5AF1B07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1216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Scheduler and timers</a:t>
            </a:r>
          </a:p>
        </p:txBody>
      </p:sp>
      <p:sp>
        <p:nvSpPr>
          <p:cNvPr id="1048755" name="Rounded Rectangle 137">
            <a:extLst xmlns:a="http://schemas.openxmlformats.org/drawingml/2006/main">
              <a:ext uri="{FF2B5EF4-FFF2-40B4-BE49-F238E27FC236}">
                <a16:creationId xmlns:a16="http://schemas.microsoft.com/office/drawing/2014/main" id="{A0C57144-C43B-4ED0-9422-23175BF9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38144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56" name="TextBox 138">
            <a:extLst xmlns:a="http://schemas.openxmlformats.org/drawingml/2006/main">
              <a:ext uri="{FF2B5EF4-FFF2-40B4-BE49-F238E27FC236}">
                <a16:creationId xmlns:a16="http://schemas.microsoft.com/office/drawing/2014/main" id="{2F80417D-98D4-47D5-8950-FFF19BC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38144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 database</a:t>
            </a:r>
          </a:p>
        </p:txBody>
      </p:sp>
      <p:sp>
        <p:nvSpPr>
          <p:cNvPr id="1048757" name="Rounded Rectangle 139">
            <a:extLst xmlns:a="http://schemas.openxmlformats.org/drawingml/2006/main">
              <a:ext uri="{FF2B5EF4-FFF2-40B4-BE49-F238E27FC236}">
                <a16:creationId xmlns:a16="http://schemas.microsoft.com/office/drawing/2014/main" id="{7C23BF64-63C9-4EC3-95DE-E9E7D86B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38144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58" name="TextBox 140">
            <a:extLst xmlns:a="http://schemas.openxmlformats.org/drawingml/2006/main">
              <a:ext uri="{FF2B5EF4-FFF2-40B4-BE49-F238E27FC236}">
                <a16:creationId xmlns:a16="http://schemas.microsoft.com/office/drawing/2014/main" id="{87E03B89-2EE3-4247-8363-15CF63EC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144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persona model</a:t>
            </a:r>
          </a:p>
        </p:txBody>
      </p:sp>
      <p:sp>
        <p:nvSpPr>
          <p:cNvPr id="3145735" name="Connector 141">
            <a:extLst xmlns:a="http://schemas.openxmlformats.org/drawingml/2006/main">
              <a:ext uri="{FF2B5EF4-FFF2-40B4-BE49-F238E27FC236}">
                <a16:creationId xmlns:a16="http://schemas.microsoft.com/office/drawing/2014/main" id="{39736670-900E-40A6-852E-0C210860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1874519"/>
            <a:ext cx="125272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59" name="TextBox 142">
            <a:extLst xmlns:a="http://schemas.openxmlformats.org/drawingml/2006/main">
              <a:ext uri="{FF2B5EF4-FFF2-40B4-BE49-F238E27FC236}">
                <a16:creationId xmlns:a16="http://schemas.microsoft.com/office/drawing/2014/main" id="{3D2E4DB2-7DF8-42D1-A14C-C5086F5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600199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local audio</a:t>
            </a:r>
          </a:p>
        </p:txBody>
      </p:sp>
      <p:sp>
        <p:nvSpPr>
          <p:cNvPr id="3145736" name="Connector 143">
            <a:extLst xmlns:a="http://schemas.openxmlformats.org/drawingml/2006/main">
              <a:ext uri="{FF2B5EF4-FFF2-40B4-BE49-F238E27FC236}">
                <a16:creationId xmlns:a16="http://schemas.microsoft.com/office/drawing/2014/main" id="{B5003C60-102B-44A9-8177-B3F1BC06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2697480"/>
            <a:ext cx="125272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60" name="TextBox 144">
            <a:extLst xmlns:a="http://schemas.openxmlformats.org/drawingml/2006/main">
              <a:ext uri="{FF2B5EF4-FFF2-40B4-BE49-F238E27FC236}">
                <a16:creationId xmlns:a16="http://schemas.microsoft.com/office/drawing/2014/main" id="{1AE15DDA-EDEE-482B-8012-16F880FB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423160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3145737" name="Connector 145">
            <a:extLst xmlns:a="http://schemas.openxmlformats.org/drawingml/2006/main">
              <a:ext uri="{FF2B5EF4-FFF2-40B4-BE49-F238E27FC236}">
                <a16:creationId xmlns:a16="http://schemas.microsoft.com/office/drawing/2014/main" id="{926B51AE-4FA4-40A8-A98D-CF424780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3520440"/>
            <a:ext cx="125272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61" name="TextBox 146">
            <a:extLst xmlns:a="http://schemas.openxmlformats.org/drawingml/2006/main">
              <a:ext uri="{FF2B5EF4-FFF2-40B4-BE49-F238E27FC236}">
                <a16:creationId xmlns:a16="http://schemas.microsoft.com/office/drawing/2014/main" id="{68D46A7C-5CA4-47DD-8E4C-BB189B68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46120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314573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84B190ED-E875-474C-BA85-B212F23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4343400"/>
            <a:ext cx="125272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62" name="TextBox 148">
            <a:extLst xmlns:a="http://schemas.openxmlformats.org/drawingml/2006/main">
              <a:ext uri="{FF2B5EF4-FFF2-40B4-BE49-F238E27FC236}">
                <a16:creationId xmlns:a16="http://schemas.microsoft.com/office/drawing/2014/main" id="{83190F58-05EE-4585-B342-B5304594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069080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048763" name="TextBox 149">
            <a:extLst xmlns:a="http://schemas.openxmlformats.org/drawingml/2006/main">
              <a:ext uri="{FF2B5EF4-FFF2-40B4-BE49-F238E27FC236}">
                <a16:creationId xmlns:a16="http://schemas.microsoft.com/office/drawing/2014/main" id="{B911BE1B-F66C-47B2-99BB-2D847FE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6187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4A5C68"/>
                </a:solidFill>
                <a:latin typeface="Arial"/>
                <a:ea typeface="Arial"/>
                <a:cs typeface="Arial"/>
              </a:rPr>
              <a:t>SYSTEM OUTPUTS</a:t>
            </a:r>
          </a:p>
        </p:txBody>
      </p:sp>
      <p:sp>
        <p:nvSpPr>
          <p:cNvPr id="1048764" name="Rounded Rectangle 150">
            <a:extLst xmlns:a="http://schemas.openxmlformats.org/drawingml/2006/main">
              <a:ext uri="{FF2B5EF4-FFF2-40B4-BE49-F238E27FC236}">
                <a16:creationId xmlns:a16="http://schemas.microsoft.com/office/drawing/2014/main" id="{3D40F864-3DC5-4C7D-A6FD-F8064A2A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7360"/>
            <a:ext cx="237744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65" name="TextBox 151">
            <a:extLst xmlns:a="http://schemas.openxmlformats.org/drawingml/2006/main">
              <a:ext uri="{FF2B5EF4-FFF2-40B4-BE49-F238E27FC236}">
                <a16:creationId xmlns:a16="http://schemas.microsoft.com/office/drawing/2014/main" id="{3C3222E8-3911-43D8-87B8-16EF9931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1737360"/>
            <a:ext cx="22677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screen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+ robot status</a:t>
            </a:r>
          </a:p>
        </p:txBody>
      </p:sp>
      <p:sp>
        <p:nvSpPr>
          <p:cNvPr id="3145739" name="Connector 152">
            <a:extLst xmlns:a="http://schemas.openxmlformats.org/drawingml/2006/main">
              <a:ext uri="{FF2B5EF4-FFF2-40B4-BE49-F238E27FC236}">
                <a16:creationId xmlns:a16="http://schemas.microsoft.com/office/drawing/2014/main" id="{3F34ED9B-FEDD-4FDC-B68E-12231923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5" y="2066544"/>
            <a:ext cx="1298449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66" name="TextBox 153">
            <a:extLst xmlns:a="http://schemas.openxmlformats.org/drawingml/2006/main">
              <a:ext uri="{FF2B5EF4-FFF2-40B4-BE49-F238E27FC236}">
                <a16:creationId xmlns:a16="http://schemas.microsoft.com/office/drawing/2014/main" id="{4905056D-0D5A-48E8-9A0D-772AC6D7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92224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local UI</a:t>
            </a:r>
          </a:p>
        </p:txBody>
      </p:sp>
      <p:sp>
        <p:nvSpPr>
          <p:cNvPr id="1048767" name="Rounded Rectangle 154">
            <a:extLst xmlns:a="http://schemas.openxmlformats.org/drawingml/2006/main">
              <a:ext uri="{FF2B5EF4-FFF2-40B4-BE49-F238E27FC236}">
                <a16:creationId xmlns:a16="http://schemas.microsoft.com/office/drawing/2014/main" id="{B44B422E-506E-42E6-B029-5A590D84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79776"/>
            <a:ext cx="237744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68" name="TextBox 155">
            <a:extLst xmlns:a="http://schemas.openxmlformats.org/drawingml/2006/main">
              <a:ext uri="{FF2B5EF4-FFF2-40B4-BE49-F238E27FC236}">
                <a16:creationId xmlns:a16="http://schemas.microsoft.com/office/drawing/2014/main" id="{D971E579-02E2-463E-A0B1-D7DC1CB0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779776"/>
            <a:ext cx="22677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speaker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TTS replies</a:t>
            </a:r>
          </a:p>
        </p:txBody>
      </p:sp>
      <p:sp>
        <p:nvSpPr>
          <p:cNvPr id="3145740" name="Connector 156">
            <a:extLst xmlns:a="http://schemas.openxmlformats.org/drawingml/2006/main">
              <a:ext uri="{FF2B5EF4-FFF2-40B4-BE49-F238E27FC236}">
                <a16:creationId xmlns:a16="http://schemas.microsoft.com/office/drawing/2014/main" id="{D36CB34C-CFD6-44F4-BCD9-4A3CFE19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5" y="3108960"/>
            <a:ext cx="1298449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69" name="TextBox 157">
            <a:extLst xmlns:a="http://schemas.openxmlformats.org/drawingml/2006/main">
              <a:ext uri="{FF2B5EF4-FFF2-40B4-BE49-F238E27FC236}">
                <a16:creationId xmlns:a16="http://schemas.microsoft.com/office/drawing/2014/main" id="{8A791215-FDDF-426B-8AB2-BF5F999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83464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local audio</a:t>
            </a:r>
          </a:p>
        </p:txBody>
      </p:sp>
      <p:sp>
        <p:nvSpPr>
          <p:cNvPr id="1048770" name="Rounded Rectangle 158">
            <a:extLst xmlns:a="http://schemas.openxmlformats.org/drawingml/2006/main">
              <a:ext uri="{FF2B5EF4-FFF2-40B4-BE49-F238E27FC236}">
                <a16:creationId xmlns:a16="http://schemas.microsoft.com/office/drawing/2014/main" id="{223287A2-5E55-4765-B75D-DF4DEE1B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2191"/>
            <a:ext cx="237744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71" name="TextBox 159">
            <a:extLst xmlns:a="http://schemas.openxmlformats.org/drawingml/2006/main">
              <a:ext uri="{FF2B5EF4-FFF2-40B4-BE49-F238E27FC236}">
                <a16:creationId xmlns:a16="http://schemas.microsoft.com/office/drawing/2014/main" id="{3AFBF711-EB9E-40B8-9A30-71BB7D3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3822191"/>
            <a:ext cx="22677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Pi servos</a:t>
            </a:r>
          </a:p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head and body motion</a:t>
            </a:r>
          </a:p>
        </p:txBody>
      </p:sp>
      <p:sp>
        <p:nvSpPr>
          <p:cNvPr id="3145741" name="Connector 160">
            <a:extLst xmlns:a="http://schemas.openxmlformats.org/drawingml/2006/main">
              <a:ext uri="{FF2B5EF4-FFF2-40B4-BE49-F238E27FC236}">
                <a16:creationId xmlns:a16="http://schemas.microsoft.com/office/drawing/2014/main" id="{6FFC2162-B63E-4E2A-878C-ECE6A28F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5" y="4151376"/>
            <a:ext cx="1298449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72" name="TextBox 161">
            <a:extLst xmlns:a="http://schemas.openxmlformats.org/drawingml/2006/main">
              <a:ext uri="{FF2B5EF4-FFF2-40B4-BE49-F238E27FC236}">
                <a16:creationId xmlns:a16="http://schemas.microsoft.com/office/drawing/2014/main" id="{4C7B2026-9B66-4C0F-848F-7B46D933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877056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REST state</a:t>
            </a:r>
          </a:p>
        </p:txBody>
      </p:sp>
      <p:sp>
        <p:nvSpPr>
          <p:cNvPr id="1048773" name="Rounded Rectangle 162">
            <a:extLst xmlns:a="http://schemas.openxmlformats.org/drawingml/2006/main">
              <a:ext uri="{FF2B5EF4-FFF2-40B4-BE49-F238E27FC236}">
                <a16:creationId xmlns:a16="http://schemas.microsoft.com/office/drawing/2014/main" id="{34BED7FD-9F3E-4F45-AB03-67BC732A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03520"/>
            <a:ext cx="457200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15875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74" name="TextBox 163">
            <a:extLst xmlns:a="http://schemas.openxmlformats.org/drawingml/2006/main">
              <a:ext uri="{FF2B5EF4-FFF2-40B4-BE49-F238E27FC236}">
                <a16:creationId xmlns:a16="http://schemas.microsoft.com/office/drawing/2014/main" id="{F3938A5F-A9C6-4CBA-B121-3F94CB3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5376672"/>
            <a:ext cx="42062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PARENT DASHBOARD</a:t>
            </a:r>
          </a:p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React + Vite web app on any laptop or phone browser</a:t>
            </a:r>
          </a:p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KPI charts, study insights, uploads, parental controls</a:t>
            </a:r>
          </a:p>
        </p:txBody>
      </p:sp>
      <p:sp>
        <p:nvSpPr>
          <p:cNvPr id="3145742" name="Connector 164">
            <a:extLst xmlns:a="http://schemas.openxmlformats.org/drawingml/2006/main">
              <a:ext uri="{FF2B5EF4-FFF2-40B4-BE49-F238E27FC236}">
                <a16:creationId xmlns:a16="http://schemas.microsoft.com/office/drawing/2014/main" id="{6D847B86-4034-42DB-9D2A-5EDF0C6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1728"/>
            <a:ext cx="0" cy="585216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0070C0"/>
            </a:solidFill>
            <a:prstDash val="dash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75" name="TextBox 165">
            <a:extLst xmlns:a="http://schemas.openxmlformats.org/drawingml/2006/main">
              <a:ext uri="{FF2B5EF4-FFF2-40B4-BE49-F238E27FC236}">
                <a16:creationId xmlns:a16="http://schemas.microsoft.com/office/drawing/2014/main" id="{F63B8724-D59C-4CC1-830D-AC97F12E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628" y="479145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1">
                <a:solidFill>
                  <a:srgbClr val="0070C0"/>
                </a:solidFill>
                <a:latin typeface="Arial"/>
                <a:ea typeface="Arial"/>
                <a:cs typeface="Arial"/>
              </a:rPr>
              <a:t>localhost + trusted LAN REST API</a:t>
            </a:r>
          </a:p>
        </p:txBody>
      </p:sp>
      <p:sp>
        <p:nvSpPr>
          <p:cNvPr id="1048776" name="TextBox 166">
            <a:extLst xmlns:a="http://schemas.openxmlformats.org/drawingml/2006/main">
              <a:ext uri="{FF2B5EF4-FFF2-40B4-BE49-F238E27FC236}">
                <a16:creationId xmlns:a16="http://schemas.microsoft.com/office/drawing/2014/main" id="{7101147F-5E6C-40A4-83CC-30660A4C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3108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Internet optional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Pi handles peripherals. Models and records stay on the laptop; only scrubbed hard questions may use cloud AI.</a:t>
            </a:r>
          </a:p>
        </p:txBody>
      </p:sp>
      <p:sp>
        <p:nvSpPr>
          <p:cNvPr id="1048777" name="TextBox 167">
            <a:extLst xmlns:a="http://schemas.openxmlformats.org/drawingml/2006/main">
              <a:ext uri="{FF2B5EF4-FFF2-40B4-BE49-F238E27FC236}">
                <a16:creationId xmlns:a16="http://schemas.microsoft.com/office/drawing/2014/main" id="{8C29063D-1A72-4A47-B923-8D4F5EF7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5349240"/>
            <a:ext cx="3154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Robot status over REST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status API exposes </a:t>
            </a: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robot state, camera and servo health</a:t>
            </a: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 for diagnostics.</a:t>
            </a:r>
          </a:p>
        </p:txBody>
      </p:sp>
      <p:sp>
        <p:nvSpPr>
          <p:cNvPr id="1048778" name="Rounded Rectangle 137 r4">
            <a:extLst xmlns:a="http://schemas.openxmlformats.org/drawingml/2006/main">
              <a:ext uri="{FF2B5EF4-FFF2-40B4-BE49-F238E27FC236}">
                <a16:creationId xmlns:a16="http://schemas.microsoft.com/office/drawing/2014/main" id="{96842AFD-99A4-43D3-95C3-B268D93F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5072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79" name="TextBox 138 r4">
            <a:extLst xmlns:a="http://schemas.openxmlformats.org/drawingml/2006/main">
              <a:ext uri="{FF2B5EF4-FFF2-40B4-BE49-F238E27FC236}">
                <a16:creationId xmlns:a16="http://schemas.microsoft.com/office/drawing/2014/main" id="{2D03078B-1023-4B10-BD16-B1A1015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00507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Escalation router</a:t>
            </a:r>
          </a:p>
        </p:txBody>
      </p:sp>
      <p:sp>
        <p:nvSpPr>
          <p:cNvPr id="1048780" name="Rounded Rectangle 139 r4">
            <a:extLst xmlns:a="http://schemas.openxmlformats.org/drawingml/2006/main">
              <a:ext uri="{FF2B5EF4-FFF2-40B4-BE49-F238E27FC236}">
                <a16:creationId xmlns:a16="http://schemas.microsoft.com/office/drawing/2014/main" id="{A4EC123E-2D92-4084-9341-D05002DD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005072"/>
            <a:ext cx="1645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4C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81" name="TextBox 140 r4">
            <a:extLst xmlns:a="http://schemas.openxmlformats.org/drawingml/2006/main">
              <a:ext uri="{FF2B5EF4-FFF2-40B4-BE49-F238E27FC236}">
                <a16:creationId xmlns:a16="http://schemas.microsoft.com/office/drawing/2014/main" id="{B4EE1719-7B1A-42BA-998A-0E1DB745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507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 scrubber + cloud API</a:t>
            </a:r>
          </a:p>
        </p:txBody>
      </p:sp>
    </p:spTree>
    <p:extLst>
      <p:ext uri="{BB962C8B-B14F-4D97-AF65-F5344CB8AC3E}">
        <p14:creationId xmlns:p14="http://schemas.microsoft.com/office/powerpoint/2010/main" val="5827622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782" name="Google Shape;124;p4">
            <a:extLst xmlns:a="http://schemas.openxmlformats.org/drawingml/2006/main">
              <a:ext uri="{FF2B5EF4-FFF2-40B4-BE49-F238E27FC236}">
                <a16:creationId xmlns:a16="http://schemas.microsoft.com/office/drawing/2014/main" id="{270D5298-0D57-4F61-8E1F-776DDEF4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783" name="Google Shape;125;p4">
            <a:extLst xmlns:a="http://schemas.openxmlformats.org/drawingml/2006/main">
              <a:ext uri="{FF2B5EF4-FFF2-40B4-BE49-F238E27FC236}">
                <a16:creationId xmlns:a16="http://schemas.microsoft.com/office/drawing/2014/main" id="{5A11E27A-69A4-44A0-91E1-A2BBD65A7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048784" name="Google Shape;127;p4">
            <a:extLst xmlns:a="http://schemas.openxmlformats.org/drawingml/2006/main">
              <a:ext uri="{FF2B5EF4-FFF2-40B4-BE49-F238E27FC236}">
                <a16:creationId xmlns:a16="http://schemas.microsoft.com/office/drawing/2014/main" id="{C645F8F8-4953-413B-8DFD-E1D3955607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sz="1200" b="1" i="0" u="non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7</a:t>
            </a:fld>
            <a:endParaRPr sz="1200" b="1" i="0" u="non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048785" name="Google Shape;128;p4">
            <a:extLst xmlns:a="http://schemas.openxmlformats.org/drawingml/2006/main">
              <a:ext uri="{FF2B5EF4-FFF2-40B4-BE49-F238E27FC236}">
                <a16:creationId xmlns:a16="http://schemas.microsoft.com/office/drawing/2014/main" id="{06860DE3-C238-437F-A1D6-482BD9ED2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1200" b="0" i="0" u="non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@SIH Idea submission- HackTuah</a:t>
            </a:r>
            <a:endParaRPr sz="1200" b="0" i="0" u="non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048786" name="Google Shape;129;p4">
            <a:extLst xmlns:a="http://schemas.openxmlformats.org/drawingml/2006/main">
              <a:ext uri="{FF2B5EF4-FFF2-40B4-BE49-F238E27FC236}">
                <a16:creationId xmlns:a16="http://schemas.microsoft.com/office/drawing/2014/main" id="{3111AC6C-24DB-48D2-89E3-F6A752B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45754" name="Google Shape;13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d09ab67dea4ed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787" name="Rounded Rectangle 130">
            <a:extLst xmlns:a="http://schemas.openxmlformats.org/drawingml/2006/main">
              <a:ext uri="{FF2B5EF4-FFF2-40B4-BE49-F238E27FC236}">
                <a16:creationId xmlns:a16="http://schemas.microsoft.com/office/drawing/2014/main" id="{E211A66C-C651-46BE-8A4B-0766B6D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3611880" cy="4846320"/>
          </a:xfrm>
          <a:prstGeom xmlns:a="http://schemas.openxmlformats.org/drawingml/2006/main" prst="roundRect">
            <a:avLst>
              <a:gd name="adj" fmla="val 1518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88" name="Oval 131">
            <a:extLst xmlns:a="http://schemas.openxmlformats.org/drawingml/2006/main">
              <a:ext uri="{FF2B5EF4-FFF2-40B4-BE49-F238E27FC236}">
                <a16:creationId xmlns:a16="http://schemas.microsoft.com/office/drawing/2014/main" id="{DE83B29C-9B69-4CC2-868B-DDDDC720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45757" name="Picture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a1065dafc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1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789" name="TextBox 133">
            <a:extLst xmlns:a="http://schemas.openxmlformats.org/drawingml/2006/main">
              <a:ext uri="{FF2B5EF4-FFF2-40B4-BE49-F238E27FC236}">
                <a16:creationId xmlns:a16="http://schemas.microsoft.com/office/drawing/2014/main" id="{58E9ED08-FBC6-4055-805F-F840894D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527048"/>
            <a:ext cx="2715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Why it is feasible</a:t>
            </a:r>
          </a:p>
        </p:txBody>
      </p:sp>
      <p:sp>
        <p:nvSpPr>
          <p:cNvPr id="1048790" name="TextBox 134">
            <a:extLst xmlns:a="http://schemas.openxmlformats.org/drawingml/2006/main">
              <a:ext uri="{FF2B5EF4-FFF2-40B4-BE49-F238E27FC236}">
                <a16:creationId xmlns:a16="http://schemas.microsoft.com/office/drawing/2014/main" id="{16327918-762F-439A-B3DD-5F286BD8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39112"/>
            <a:ext cx="320954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2E8B3D"/>
                </a:solidFill>
              </a:rPr>
              <a:t>A</a:t>
            </a:r>
            <a:r>
              <a:rPr sz="240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ffordable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total bill of materials per unit</a:t>
            </a:r>
          </a:p>
        </p:txBody>
      </p:sp>
      <p:sp>
        <p:nvSpPr>
          <p:cNvPr id="1048791" name="TextBox 135">
            <a:extLst xmlns:a="http://schemas.openxmlformats.org/drawingml/2006/main">
              <a:ext uri="{FF2B5EF4-FFF2-40B4-BE49-F238E27FC236}">
                <a16:creationId xmlns:a16="http://schemas.microsoft.com/office/drawing/2014/main" id="{78C389BB-8600-4180-8164-F04ECCE7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999232"/>
            <a:ext cx="3209544" cy="30522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Off-the-shelf parts: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everything is commercially available; Pi, camera and servos in hand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Fully open-source stack: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Python, FastAPI, OpenCV,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Moonshine, Piper, Ollama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, React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Huge Pi community: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documented drivers for every peripheral used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Works without internet: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 SLM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answers everyday questions offline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Own it forever: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local SLM is a one-time cost, while cloud API bills compound over time</a:t>
            </a:r>
          </a:p>
        </p:txBody>
      </p:sp>
      <p:sp>
        <p:nvSpPr>
          <p:cNvPr id="1048792" name="TextBox 136">
            <a:extLst xmlns:a="http://schemas.openxmlformats.org/drawingml/2006/main">
              <a:ext uri="{FF2B5EF4-FFF2-40B4-BE49-F238E27FC236}">
                <a16:creationId xmlns:a16="http://schemas.microsoft.com/office/drawing/2014/main" id="{28244153-DCDB-4210-9691-59837D49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029200"/>
            <a:ext cx="151333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Rs 0/mo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recurring AI cost offline</a:t>
            </a:r>
          </a:p>
        </p:txBody>
      </p:sp>
      <p:sp>
        <p:nvSpPr>
          <p:cNvPr id="1048793" name="TextBox 137">
            <a:extLst xmlns:a="http://schemas.openxmlformats.org/drawingml/2006/main">
              <a:ext uri="{FF2B5EF4-FFF2-40B4-BE49-F238E27FC236}">
                <a16:creationId xmlns:a16="http://schemas.microsoft.com/office/drawing/2014/main" id="{90049B4B-2878-4EC2-B059-21155FC1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420" y="5029200"/>
            <a:ext cx="151333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personal records in cloud</a:t>
            </a:r>
          </a:p>
        </p:txBody>
      </p:sp>
      <p:sp>
        <p:nvSpPr>
          <p:cNvPr id="1048794" name="TextBox 138">
            <a:extLst xmlns:a="http://schemas.openxmlformats.org/drawingml/2006/main">
              <a:ext uri="{FF2B5EF4-FFF2-40B4-BE49-F238E27FC236}">
                <a16:creationId xmlns:a16="http://schemas.microsoft.com/office/drawing/2014/main" id="{F5423309-F0F6-4299-9CAB-02AE3E04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261872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47B20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048795" name="TextBox 139">
            <a:extLst xmlns:a="http://schemas.openxmlformats.org/drawingml/2006/main">
              <a:ext uri="{FF2B5EF4-FFF2-40B4-BE49-F238E27FC236}">
                <a16:creationId xmlns:a16="http://schemas.microsoft.com/office/drawing/2014/main" id="{165EDBE3-46D6-4CCC-8FC8-73959E88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261872"/>
            <a:ext cx="37490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STRATEGIES FOR OVERCOMING THEM</a:t>
            </a:r>
          </a:p>
        </p:txBody>
      </p:sp>
      <p:sp>
        <p:nvSpPr>
          <p:cNvPr id="1048796" name="Rounded Rectangle 140">
            <a:extLst xmlns:a="http://schemas.openxmlformats.org/drawingml/2006/main">
              <a:ext uri="{FF2B5EF4-FFF2-40B4-BE49-F238E27FC236}">
                <a16:creationId xmlns:a16="http://schemas.microsoft.com/office/drawing/2014/main" id="{46F7403F-A21A-4323-9F67-7F19D3A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00200"/>
            <a:ext cx="3383280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97" name="TextBox 141">
            <a:extLst xmlns:a="http://schemas.openxmlformats.org/drawingml/2006/main">
              <a:ext uri="{FF2B5EF4-FFF2-40B4-BE49-F238E27FC236}">
                <a16:creationId xmlns:a16="http://schemas.microsoft.com/office/drawing/2014/main" id="{567FF13B-56B4-4B64-8FFF-F008051C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673352"/>
            <a:ext cx="30540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Laptop dependency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robot needs its paired laptop on the local network.</a:t>
            </a:r>
          </a:p>
        </p:txBody>
      </p:sp>
      <p:sp>
        <p:nvSpPr>
          <p:cNvPr id="3145743" name="Connector 142">
            <a:extLst xmlns:a="http://schemas.openxmlformats.org/drawingml/2006/main">
              <a:ext uri="{FF2B5EF4-FFF2-40B4-BE49-F238E27FC236}">
                <a16:creationId xmlns:a16="http://schemas.microsoft.com/office/drawing/2014/main" id="{7DEA28C5-D171-49D7-AE13-E3487849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0312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798" name="Rounded Rectangle 143">
            <a:extLst xmlns:a="http://schemas.openxmlformats.org/drawingml/2006/main">
              <a:ext uri="{FF2B5EF4-FFF2-40B4-BE49-F238E27FC236}">
                <a16:creationId xmlns:a16="http://schemas.microsoft.com/office/drawing/2014/main" id="{B809221D-71BE-44EC-8EE2-16156875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600200"/>
            <a:ext cx="3749039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799" name="TextBox 144">
            <a:extLst xmlns:a="http://schemas.openxmlformats.org/drawingml/2006/main">
              <a:ext uri="{FF2B5EF4-FFF2-40B4-BE49-F238E27FC236}">
                <a16:creationId xmlns:a16="http://schemas.microsoft.com/office/drawing/2014/main" id="{4C6A0B6E-0075-4345-AA71-F84949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73352"/>
            <a:ext cx="34198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Stable local link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Reserve both IP addresses; use Ethernet on the Pi when possible.</a:t>
            </a:r>
          </a:p>
        </p:txBody>
      </p:sp>
      <p:sp>
        <p:nvSpPr>
          <p:cNvPr id="1048800" name="Rounded Rectangle 145">
            <a:extLst xmlns:a="http://schemas.openxmlformats.org/drawingml/2006/main">
              <a:ext uri="{FF2B5EF4-FFF2-40B4-BE49-F238E27FC236}">
                <a16:creationId xmlns:a16="http://schemas.microsoft.com/office/drawing/2014/main" id="{A641A233-EFA9-468B-94CE-CA32E6C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756916"/>
            <a:ext cx="3383280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01" name="TextBox 146">
            <a:extLst xmlns:a="http://schemas.openxmlformats.org/drawingml/2006/main">
              <a:ext uri="{FF2B5EF4-FFF2-40B4-BE49-F238E27FC236}">
                <a16:creationId xmlns:a16="http://schemas.microsoft.com/office/drawing/2014/main" id="{3960CF72-67B2-4BA4-96DE-1D470BF1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830068"/>
            <a:ext cx="30540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Voice latency offline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Local STT / TTS is slower than cloud.</a:t>
            </a:r>
          </a:p>
        </p:txBody>
      </p:sp>
      <p:sp>
        <p:nvSpPr>
          <p:cNvPr id="3145744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AA3B5286-5821-4D70-9DED-5F1C07FD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259836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802" name="Rounded Rectangle 148">
            <a:extLst xmlns:a="http://schemas.openxmlformats.org/drawingml/2006/main">
              <a:ext uri="{FF2B5EF4-FFF2-40B4-BE49-F238E27FC236}">
                <a16:creationId xmlns:a16="http://schemas.microsoft.com/office/drawing/2014/main" id="{32C72112-7F92-43ED-80E9-F4F4B2E5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756916"/>
            <a:ext cx="3749039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03" name="TextBox 149">
            <a:extLst xmlns:a="http://schemas.openxmlformats.org/drawingml/2006/main">
              <a:ext uri="{FF2B5EF4-FFF2-40B4-BE49-F238E27FC236}">
                <a16:creationId xmlns:a16="http://schemas.microsoft.com/office/drawing/2014/main" id="{25B2408F-3102-4A49-856D-7C0FDD55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30068"/>
            <a:ext cx="34198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Wake-word gating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Listen for the wake word only, then stream short utterances; pre-cache common replies.</a:t>
            </a:r>
          </a:p>
        </p:txBody>
      </p:sp>
      <p:sp>
        <p:nvSpPr>
          <p:cNvPr id="1048804" name="Rounded Rectangle 150">
            <a:extLst xmlns:a="http://schemas.openxmlformats.org/drawingml/2006/main">
              <a:ext uri="{FF2B5EF4-FFF2-40B4-BE49-F238E27FC236}">
                <a16:creationId xmlns:a16="http://schemas.microsoft.com/office/drawing/2014/main" id="{ED169B48-63FF-457A-8C49-DDDE5130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913632"/>
            <a:ext cx="3383280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05" name="TextBox 151">
            <a:extLst xmlns:a="http://schemas.openxmlformats.org/drawingml/2006/main">
              <a:ext uri="{FF2B5EF4-FFF2-40B4-BE49-F238E27FC236}">
                <a16:creationId xmlns:a16="http://schemas.microsoft.com/office/drawing/2014/main" id="{A730CEBE-2374-4210-81E2-498FCC09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986784"/>
            <a:ext cx="30540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Child data privacy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Face, voice and study patterns are sensitive, and cloud APIs see every query.</a:t>
            </a:r>
          </a:p>
        </p:txBody>
      </p:sp>
      <p:sp>
        <p:nvSpPr>
          <p:cNvPr id="3145745" name="Connector 152">
            <a:extLst xmlns:a="http://schemas.openxmlformats.org/drawingml/2006/main">
              <a:ext uri="{FF2B5EF4-FFF2-40B4-BE49-F238E27FC236}">
                <a16:creationId xmlns:a16="http://schemas.microsoft.com/office/drawing/2014/main" id="{0EA1071D-945D-4F5F-AF9F-839F593B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416552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806" name="Rounded Rectangle 153">
            <a:extLst xmlns:a="http://schemas.openxmlformats.org/drawingml/2006/main">
              <a:ext uri="{FF2B5EF4-FFF2-40B4-BE49-F238E27FC236}">
                <a16:creationId xmlns:a16="http://schemas.microsoft.com/office/drawing/2014/main" id="{5A100A7C-BF9A-4B37-9926-8A301B1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3913632"/>
            <a:ext cx="3749039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07" name="TextBox 154">
            <a:extLst xmlns:a="http://schemas.openxmlformats.org/drawingml/2006/main">
              <a:ext uri="{FF2B5EF4-FFF2-40B4-BE49-F238E27FC236}">
                <a16:creationId xmlns:a16="http://schemas.microsoft.com/office/drawing/2014/main" id="{99F50E9A-C983-4CD3-8FDB-1CC049B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986784"/>
            <a:ext cx="34198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Laptop-local by default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Face, speech and study data stay on the laptop; cloud queries are anonymised first.</a:t>
            </a:r>
          </a:p>
        </p:txBody>
      </p:sp>
      <p:sp>
        <p:nvSpPr>
          <p:cNvPr id="1048808" name="Rounded Rectangle 155">
            <a:extLst xmlns:a="http://schemas.openxmlformats.org/drawingml/2006/main">
              <a:ext uri="{FF2B5EF4-FFF2-40B4-BE49-F238E27FC236}">
                <a16:creationId xmlns:a16="http://schemas.microsoft.com/office/drawing/2014/main" id="{092D5F76-ECC7-4AB7-87D9-343AB8F3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5070348"/>
            <a:ext cx="3383280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09" name="TextBox 156">
            <a:extLst xmlns:a="http://schemas.openxmlformats.org/drawingml/2006/main">
              <a:ext uri="{FF2B5EF4-FFF2-40B4-BE49-F238E27FC236}">
                <a16:creationId xmlns:a16="http://schemas.microsoft.com/office/drawing/2014/main" id="{910EAD72-DDB6-486D-9DA5-D362C84E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5143500"/>
            <a:ext cx="30540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Servo power noise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Current spikes can reset the Pi or interrupt capture.</a:t>
            </a:r>
          </a:p>
        </p:txBody>
      </p:sp>
      <p:sp>
        <p:nvSpPr>
          <p:cNvPr id="3145746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98A58099-3C6D-4F96-A845-D8889576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573268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A5C6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8810" name="Rounded Rectangle 158">
            <a:extLst xmlns:a="http://schemas.openxmlformats.org/drawingml/2006/main">
              <a:ext uri="{FF2B5EF4-FFF2-40B4-BE49-F238E27FC236}">
                <a16:creationId xmlns:a16="http://schemas.microsoft.com/office/drawing/2014/main" id="{DD0777B7-95F8-451B-8A1F-262EB145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5070348"/>
            <a:ext cx="3749039" cy="1005840"/>
          </a:xfrm>
          <a:prstGeom xmlns:a="http://schemas.openxmlformats.org/drawingml/2006/main" prst="roundRect">
            <a:avLst>
              <a:gd name="adj" fmla="val 5454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11" name="TextBox 159">
            <a:extLst xmlns:a="http://schemas.openxmlformats.org/drawingml/2006/main">
              <a:ext uri="{FF2B5EF4-FFF2-40B4-BE49-F238E27FC236}">
                <a16:creationId xmlns:a16="http://schemas.microsoft.com/office/drawing/2014/main" id="{E73B0E6F-1CA1-47E5-A5C1-025B7A72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143500"/>
            <a:ext cx="34198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Separate power rail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Use regulated servo power, common ground and bulk capacitance.</a:t>
            </a:r>
          </a:p>
        </p:txBody>
      </p:sp>
    </p:spTree>
    <p:extLst>
      <p:ext uri="{BB962C8B-B14F-4D97-AF65-F5344CB8AC3E}">
        <p14:creationId xmlns:p14="http://schemas.microsoft.com/office/powerpoint/2010/main" val="3088704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15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09147C25-A8C3-4618-B270-3FF2A9F3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816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65AA650E-7301-4905-B0AC-C9A9317F8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048817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3A54CF59-69DC-4FD1-95DD-8E1C0D61DB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sz="1200" b="1" i="0" u="non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8</a:t>
            </a:fld>
            <a:endParaRPr sz="1200" b="1" i="0" u="non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048818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9A3FCFB4-4A3B-4E63-9BF6-CB1178587E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1200" b="0" i="0" u="non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@SIH Idea submission- HackTuah</a:t>
            </a:r>
            <a:endParaRPr sz="1200" b="0" i="0" u="non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048819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91413276-D129-4787-9674-60461034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48854" name="Google Shape;142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599954a96f463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820" name="Rounded Rectangle 142">
            <a:extLst xmlns:a="http://schemas.openxmlformats.org/drawingml/2006/main">
              <a:ext uri="{FF2B5EF4-FFF2-40B4-BE49-F238E27FC236}">
                <a16:creationId xmlns:a16="http://schemas.microsoft.com/office/drawing/2014/main" id="{7AF8376F-A90B-4431-A5DF-66B14EC0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11365992" cy="868680"/>
          </a:xfrm>
          <a:prstGeom xmlns:a="http://schemas.openxmlformats.org/drawingml/2006/main" prst="roundRect">
            <a:avLst>
              <a:gd name="adj" fmla="val 631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21" name="TextBox 143">
            <a:extLst xmlns:a="http://schemas.openxmlformats.org/drawingml/2006/main">
              <a:ext uri="{FF2B5EF4-FFF2-40B4-BE49-F238E27FC236}">
                <a16:creationId xmlns:a16="http://schemas.microsoft.com/office/drawing/2014/main" id="{D40D81B5-4430-45B8-A82D-ED783E96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2103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AUDIENCE</a:t>
            </a:r>
          </a:p>
        </p:txBody>
      </p:sp>
      <p:sp>
        <p:nvSpPr>
          <p:cNvPr id="1048822" name="TextBox 144">
            <a:extLst xmlns:a="http://schemas.openxmlformats.org/drawingml/2006/main">
              <a:ext uri="{FF2B5EF4-FFF2-40B4-BE49-F238E27FC236}">
                <a16:creationId xmlns:a16="http://schemas.microsoft.com/office/drawing/2014/main" id="{C3F3C27A-59F3-49A8-9CAC-1BBDBAF9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25880"/>
            <a:ext cx="4480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C48C"/>
                </a:solidFill>
                <a:latin typeface="Arial"/>
                <a:ea typeface="Arial"/>
                <a:cs typeface="Arial"/>
              </a:rPr>
              <a:t>Primary  </a:t>
            </a: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K-12 and college students who self-study at home</a:t>
            </a:r>
          </a:p>
        </p:txBody>
      </p:sp>
      <p:sp>
        <p:nvSpPr>
          <p:cNvPr id="1048823" name="TextBox 145">
            <a:extLst xmlns:a="http://schemas.openxmlformats.org/drawingml/2006/main">
              <a:ext uri="{FF2B5EF4-FFF2-40B4-BE49-F238E27FC236}">
                <a16:creationId xmlns:a16="http://schemas.microsoft.com/office/drawing/2014/main" id="{811D78FF-5FF0-48CA-A01F-D42A4CFD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25880"/>
            <a:ext cx="4297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9FD9A6"/>
                </a:solidFill>
                <a:latin typeface="Arial"/>
                <a:ea typeface="Arial"/>
                <a:cs typeface="Arial"/>
              </a:rPr>
              <a:t>Secondary  </a:t>
            </a: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parents, teachers, coaching centres and libraries</a:t>
            </a:r>
          </a:p>
        </p:txBody>
      </p:sp>
      <p:sp>
        <p:nvSpPr>
          <p:cNvPr id="1048824" name="Rounded Rectangle 146">
            <a:extLst xmlns:a="http://schemas.openxmlformats.org/drawingml/2006/main">
              <a:ext uri="{FF2B5EF4-FFF2-40B4-BE49-F238E27FC236}">
                <a16:creationId xmlns:a16="http://schemas.microsoft.com/office/drawing/2014/main" id="{09F79311-8D57-440F-AC64-4673FF3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95728"/>
            <a:ext cx="2724912" cy="3776472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25" name="Oval 147">
            <a:extLst xmlns:a="http://schemas.openxmlformats.org/drawingml/2006/main">
              <a:ext uri="{FF2B5EF4-FFF2-40B4-BE49-F238E27FC236}">
                <a16:creationId xmlns:a16="http://schemas.microsoft.com/office/drawing/2014/main" id="{9C51E57B-3449-497C-9F8D-2C5B2F7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861" name="Picture 1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aa495623a4c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19" y="268906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826" name="TextBox 149">
            <a:extLst xmlns:a="http://schemas.openxmlformats.org/drawingml/2006/main">
              <a:ext uri="{FF2B5EF4-FFF2-40B4-BE49-F238E27FC236}">
                <a16:creationId xmlns:a16="http://schemas.microsoft.com/office/drawing/2014/main" id="{1208F9FD-A8FD-4BB8-97F3-4A9F109B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596896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Educational</a:t>
            </a:r>
          </a:p>
        </p:txBody>
      </p:sp>
      <p:sp>
        <p:nvSpPr>
          <p:cNvPr id="1048827" name="TextBox 150">
            <a:extLst xmlns:a="http://schemas.openxmlformats.org/drawingml/2006/main">
              <a:ext uri="{FF2B5EF4-FFF2-40B4-BE49-F238E27FC236}">
                <a16:creationId xmlns:a16="http://schemas.microsoft.com/office/drawing/2014/main" id="{BAB4DAEF-804A-4BB2-BF84-05D1E756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108960"/>
            <a:ext cx="2322576" cy="2211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Dedicated, distraction-free study companion replaces passive screen time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Spaced repetition and revision scheduling improve long-term retention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Active-recall quizzes built from the student's own notes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Adaptive difficulty keeps every age group engaged</a:t>
            </a:r>
          </a:p>
        </p:txBody>
      </p:sp>
      <p:sp>
        <p:nvSpPr>
          <p:cNvPr id="1048828" name="TextBox 151">
            <a:extLst xmlns:a="http://schemas.openxmlformats.org/drawingml/2006/main">
              <a:ext uri="{FF2B5EF4-FFF2-40B4-BE49-F238E27FC236}">
                <a16:creationId xmlns:a16="http://schemas.microsoft.com/office/drawing/2014/main" id="{AE22BB8B-1D03-4A64-94CB-3277B73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349240"/>
            <a:ext cx="23225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85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OUTCOME</a:t>
            </a:r>
          </a:p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Higher retention, less last-minute cramming</a:t>
            </a:r>
          </a:p>
        </p:txBody>
      </p:sp>
      <p:sp>
        <p:nvSpPr>
          <p:cNvPr id="1048829" name="Rounded Rectangle 152">
            <a:extLst xmlns:a="http://schemas.openxmlformats.org/drawingml/2006/main">
              <a:ext uri="{FF2B5EF4-FFF2-40B4-BE49-F238E27FC236}">
                <a16:creationId xmlns:a16="http://schemas.microsoft.com/office/drawing/2014/main" id="{81C67D37-E6DD-4448-A354-9B25F84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95728"/>
            <a:ext cx="2724912" cy="3776472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30" name="Oval 153">
            <a:extLst xmlns:a="http://schemas.openxmlformats.org/drawingml/2006/main">
              <a:ext uri="{FF2B5EF4-FFF2-40B4-BE49-F238E27FC236}">
                <a16:creationId xmlns:a16="http://schemas.microsoft.com/office/drawing/2014/main" id="{6D74B61D-70FE-4581-9FD9-8DFB295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867" name="Picture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2209bebe94b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85179" y="268906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831" name="TextBox 155">
            <a:extLst xmlns:a="http://schemas.openxmlformats.org/drawingml/2006/main">
              <a:ext uri="{FF2B5EF4-FFF2-40B4-BE49-F238E27FC236}">
                <a16:creationId xmlns:a16="http://schemas.microsoft.com/office/drawing/2014/main" id="{6DA57C04-960B-43FF-8E3C-B32212BA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2596896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Social</a:t>
            </a:r>
          </a:p>
        </p:txBody>
      </p:sp>
      <p:sp>
        <p:nvSpPr>
          <p:cNvPr id="1048832" name="TextBox 156">
            <a:extLst xmlns:a="http://schemas.openxmlformats.org/drawingml/2006/main">
              <a:ext uri="{FF2B5EF4-FFF2-40B4-BE49-F238E27FC236}">
                <a16:creationId xmlns:a16="http://schemas.microsoft.com/office/drawing/2014/main" id="{901EFBD0-7C8B-4A76-B610-2DBA96A6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108960"/>
            <a:ext cx="2322576" cy="2211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Bridges the parent-student gap with insight, not surveillance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Physical, expressive companion supports students who study alone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Group and competitive modes encourage peer learning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Works in Hindi and regional languages through Moonshine and Kokoro</a:t>
            </a:r>
          </a:p>
        </p:txBody>
      </p:sp>
      <p:sp>
        <p:nvSpPr>
          <p:cNvPr id="1048833" name="TextBox 157">
            <a:extLst xmlns:a="http://schemas.openxmlformats.org/drawingml/2006/main">
              <a:ext uri="{FF2B5EF4-FFF2-40B4-BE49-F238E27FC236}">
                <a16:creationId xmlns:a16="http://schemas.microsoft.com/office/drawing/2014/main" id="{9BF8C34A-4A33-4A27-9313-5811B7B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349240"/>
            <a:ext cx="23225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850" b="1" i="0">
                <a:solidFill>
                  <a:srgbClr val="F47B20"/>
                </a:solidFill>
                <a:latin typeface="Arial"/>
                <a:ea typeface="Arial"/>
                <a:cs typeface="Arial"/>
              </a:rPr>
              <a:t>OUTCOME</a:t>
            </a:r>
          </a:p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Trust between parents and students</a:t>
            </a:r>
          </a:p>
        </p:txBody>
      </p:sp>
      <p:sp>
        <p:nvSpPr>
          <p:cNvPr id="1048834" name="Rounded Rectangle 158">
            <a:extLst xmlns:a="http://schemas.openxmlformats.org/drawingml/2006/main">
              <a:ext uri="{FF2B5EF4-FFF2-40B4-BE49-F238E27FC236}">
                <a16:creationId xmlns:a16="http://schemas.microsoft.com/office/drawing/2014/main" id="{61123981-D806-4E8C-90A2-C52C28BE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95728"/>
            <a:ext cx="2724912" cy="3776472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35" name="Oval 159">
            <a:extLst xmlns:a="http://schemas.openxmlformats.org/drawingml/2006/main">
              <a:ext uri="{FF2B5EF4-FFF2-40B4-BE49-F238E27FC236}">
                <a16:creationId xmlns:a16="http://schemas.microsoft.com/office/drawing/2014/main" id="{679D995C-6AB2-4011-BADF-B895FEA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873" name="Picture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1a89ad427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5539" y="268906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836" name="TextBox 161">
            <a:extLst xmlns:a="http://schemas.openxmlformats.org/drawingml/2006/main">
              <a:ext uri="{FF2B5EF4-FFF2-40B4-BE49-F238E27FC236}">
                <a16:creationId xmlns:a16="http://schemas.microsoft.com/office/drawing/2014/main" id="{19117FC7-A3B9-4D58-A39F-BA761BBB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596896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Economic</a:t>
            </a:r>
          </a:p>
        </p:txBody>
      </p:sp>
      <p:sp>
        <p:nvSpPr>
          <p:cNvPr id="1048837" name="TextBox 162">
            <a:extLst xmlns:a="http://schemas.openxmlformats.org/drawingml/2006/main">
              <a:ext uri="{FF2B5EF4-FFF2-40B4-BE49-F238E27FC236}">
                <a16:creationId xmlns:a16="http://schemas.microsoft.com/office/drawing/2014/main" id="{0F442550-02D9-4B41-95B6-AC5A44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108960"/>
            <a:ext cx="2322576" cy="2211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Low bill of materials makes it affordable for middle-income Indian homes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Offline-first design serves areas with poor connectivity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Scales to schools, libraries and government learning centres with minimal infrastructure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Replaces paid apps and subscriptions; no recurring AI bill</a:t>
            </a:r>
          </a:p>
        </p:txBody>
      </p:sp>
      <p:sp>
        <p:nvSpPr>
          <p:cNvPr id="1048838" name="TextBox 163">
            <a:extLst xmlns:a="http://schemas.openxmlformats.org/drawingml/2006/main">
              <a:ext uri="{FF2B5EF4-FFF2-40B4-BE49-F238E27FC236}">
                <a16:creationId xmlns:a16="http://schemas.microsoft.com/office/drawing/2014/main" id="{081E71A4-1E47-4428-B306-7E615F83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349240"/>
            <a:ext cx="23225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850" b="1" i="0">
                <a:solidFill>
                  <a:srgbClr val="2E8B3D"/>
                </a:solidFill>
                <a:latin typeface="Arial"/>
                <a:ea typeface="Arial"/>
                <a:cs typeface="Arial"/>
              </a:rPr>
              <a:t>OUTCOME</a:t>
            </a:r>
          </a:p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Affordable and deployable at scale</a:t>
            </a:r>
          </a:p>
        </p:txBody>
      </p:sp>
      <p:sp>
        <p:nvSpPr>
          <p:cNvPr id="1048839" name="Rounded Rectangle 164">
            <a:extLst xmlns:a="http://schemas.openxmlformats.org/drawingml/2006/main">
              <a:ext uri="{FF2B5EF4-FFF2-40B4-BE49-F238E27FC236}">
                <a16:creationId xmlns:a16="http://schemas.microsoft.com/office/drawing/2014/main" id="{4FF5F01B-06C4-40BA-B092-19A66C1A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59" y="2395728"/>
            <a:ext cx="2724912" cy="3776472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40" name="Oval 165">
            <a:extLst xmlns:a="http://schemas.openxmlformats.org/drawingml/2006/main">
              <a:ext uri="{FF2B5EF4-FFF2-40B4-BE49-F238E27FC236}">
                <a16:creationId xmlns:a16="http://schemas.microsoft.com/office/drawing/2014/main" id="{FCA2873C-F8B7-409F-BA2F-C27F17F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C6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879" name="Picture 1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c521f242241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5899" y="2689067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841" name="TextBox 167">
            <a:extLst xmlns:a="http://schemas.openxmlformats.org/drawingml/2006/main">
              <a:ext uri="{FF2B5EF4-FFF2-40B4-BE49-F238E27FC236}">
                <a16:creationId xmlns:a16="http://schemas.microsoft.com/office/drawing/2014/main" id="{D53869D8-2F26-4D10-AFEA-FC08C9B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2596896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Wellness</a:t>
            </a:r>
          </a:p>
        </p:txBody>
      </p:sp>
      <p:sp>
        <p:nvSpPr>
          <p:cNvPr id="1048842" name="TextBox 168">
            <a:extLst xmlns:a="http://schemas.openxmlformats.org/drawingml/2006/main">
              <a:ext uri="{FF2B5EF4-FFF2-40B4-BE49-F238E27FC236}">
                <a16:creationId xmlns:a16="http://schemas.microsoft.com/office/drawing/2014/main" id="{FE0FBD0F-405F-46A6-AF04-72713EE0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108960"/>
            <a:ext cx="2322576" cy="2211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Hydration, posture and break reminders reduce strain during long sessions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Fatigue cues trigger a break or a lighter activity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Personas and story mode make studying feel less like a chore</a:t>
            </a:r>
          </a:p>
          <a:p xmlns:a="http://schemas.openxmlformats.org/drawingml/2006/main">
            <a:pPr marL="164592" indent="-164592" algn="l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doom-scrolling: the companion has no social feed</a:t>
            </a:r>
          </a:p>
        </p:txBody>
      </p:sp>
      <p:sp>
        <p:nvSpPr>
          <p:cNvPr id="1048843" name="TextBox 169">
            <a:extLst xmlns:a="http://schemas.openxmlformats.org/drawingml/2006/main">
              <a:ext uri="{FF2B5EF4-FFF2-40B4-BE49-F238E27FC236}">
                <a16:creationId xmlns:a16="http://schemas.microsoft.com/office/drawing/2014/main" id="{142A6685-624D-4325-A320-04DCADB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5349240"/>
            <a:ext cx="23225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"/>
              </a:spcAft>
              <a:buNone/>
            </a:pPr>
            <a:r>
              <a:rPr sz="850" b="1" i="0">
                <a:solidFill>
                  <a:srgbClr val="4A5C68"/>
                </a:solidFill>
                <a:latin typeface="Arial"/>
                <a:ea typeface="Arial"/>
                <a:cs typeface="Arial"/>
              </a:rPr>
              <a:t>OUTCOME</a:t>
            </a:r>
          </a:p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Healthier, sustainable study habits</a:t>
            </a:r>
          </a:p>
        </p:txBody>
      </p:sp>
    </p:spTree>
    <p:extLst>
      <p:ext uri="{BB962C8B-B14F-4D97-AF65-F5344CB8AC3E}">
        <p14:creationId xmlns:p14="http://schemas.microsoft.com/office/powerpoint/2010/main" val="17003951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847" name="Google Shape;148;p6">
            <a:extLst xmlns:a="http://schemas.openxmlformats.org/drawingml/2006/main">
              <a:ext uri="{FF2B5EF4-FFF2-40B4-BE49-F238E27FC236}">
                <a16:creationId xmlns:a16="http://schemas.microsoft.com/office/drawing/2014/main" id="{DE4E8B70-BFAE-4EE7-B8AE-4B642B6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848" name="Google Shape;149;p6">
            <a:extLst xmlns:a="http://schemas.openxmlformats.org/drawingml/2006/main">
              <a:ext uri="{FF2B5EF4-FFF2-40B4-BE49-F238E27FC236}">
                <a16:creationId xmlns:a16="http://schemas.microsoft.com/office/drawing/2014/main" id="{418C5367-4D3E-483B-B715-5234445D8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048849" name="Google Shape;151;p6">
            <a:extLst xmlns:a="http://schemas.openxmlformats.org/drawingml/2006/main">
              <a:ext uri="{FF2B5EF4-FFF2-40B4-BE49-F238E27FC236}">
                <a16:creationId xmlns:a16="http://schemas.microsoft.com/office/drawing/2014/main" id="{2CA542E4-D8DD-419A-B5B9-4872F0B645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sz="1200" b="1" i="0" u="non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9</a:t>
            </a:fld>
            <a:endParaRPr sz="1200" b="1" i="0" u="non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048850" name="Google Shape;152;p6">
            <a:extLst xmlns:a="http://schemas.openxmlformats.org/drawingml/2006/main">
              <a:ext uri="{FF2B5EF4-FFF2-40B4-BE49-F238E27FC236}">
                <a16:creationId xmlns:a16="http://schemas.microsoft.com/office/drawing/2014/main" id="{000DB6DA-1A74-465D-8128-F79D34ECF6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1200" b="0" i="0" u="non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@SIH Idea submission- HackTuah</a:t>
            </a:r>
            <a:endParaRPr sz="1200" b="0" i="0" u="non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048851" name="Google Shape;153;p6">
            <a:extLst xmlns:a="http://schemas.openxmlformats.org/drawingml/2006/main">
              <a:ext uri="{FF2B5EF4-FFF2-40B4-BE49-F238E27FC236}">
                <a16:creationId xmlns:a16="http://schemas.microsoft.com/office/drawing/2014/main" id="{D1B59460-77A6-475C-A06F-B8BBA9E9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5" y="252250"/>
            <a:ext cx="1724700" cy="81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HackTuah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48873" name="Google Shape;15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0fef0b38c94f0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852" name="Rounded Rectangle 154">
            <a:extLst xmlns:a="http://schemas.openxmlformats.org/drawingml/2006/main">
              <a:ext uri="{FF2B5EF4-FFF2-40B4-BE49-F238E27FC236}">
                <a16:creationId xmlns:a16="http://schemas.microsoft.com/office/drawing/2014/main" id="{49937984-923F-4DE5-A31B-6CE385A4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3685032" cy="4846320"/>
          </a:xfrm>
          <a:prstGeom xmlns:a="http://schemas.openxmlformats.org/drawingml/2006/main" prst="roundRect">
            <a:avLst>
              <a:gd name="adj" fmla="val 1488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53" name="Oval 155">
            <a:extLst xmlns:a="http://schemas.openxmlformats.org/drawingml/2006/main">
              <a:ext uri="{FF2B5EF4-FFF2-40B4-BE49-F238E27FC236}">
                <a16:creationId xmlns:a16="http://schemas.microsoft.com/office/drawing/2014/main" id="{6647C6C9-98A2-4ACA-A954-F6CF8770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876" name="Picture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dd45f8204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1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854" name="TextBox 157">
            <a:extLst xmlns:a="http://schemas.openxmlformats.org/drawingml/2006/main">
              <a:ext uri="{FF2B5EF4-FFF2-40B4-BE49-F238E27FC236}">
                <a16:creationId xmlns:a16="http://schemas.microsoft.com/office/drawing/2014/main" id="{DCDD9CBB-EF98-416D-B6B3-163E6F6F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527048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Learning Science</a:t>
            </a:r>
          </a:p>
        </p:txBody>
      </p:sp>
      <p:sp>
        <p:nvSpPr>
          <p:cNvPr id="1048855" name="TextBox 158">
            <a:extLst xmlns:a="http://schemas.openxmlformats.org/drawingml/2006/main">
              <a:ext uri="{FF2B5EF4-FFF2-40B4-BE49-F238E27FC236}">
                <a16:creationId xmlns:a16="http://schemas.microsoft.com/office/drawing/2014/main" id="{E29D1F82-8500-4FD6-9DA7-7602F901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39112"/>
            <a:ext cx="3282696" cy="4012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Pomodoro Technique.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Cirillo, F. (2006). The Pomodoro Technique.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sz="900" b="0" i="0">
                <a:solidFill>
                  <a:srgbClr val="0070C0"/>
                </a:solidFill>
                <a:latin typeface="Arial"/>
                <a:ea typeface="Arial"/>
                <a:cs typeface="Arial"/>
                <a:hlinkClick xmlns:r="http://schemas.openxmlformats.org/officeDocument/2006/relationships" r:id="R1101b09ebca6417b"/>
              </a:rPr>
              <a:t>pomodorotechnique.com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Spacing and retention.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Cepeda et al. (2006). Distributed practice in verbal recall tasks. Psychological Bulletin.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sz="900" b="0" i="0">
                <a:solidFill>
                  <a:srgbClr val="0070C0"/>
                </a:solidFill>
                <a:latin typeface="Arial"/>
                <a:ea typeface="Arial"/>
                <a:cs typeface="Arial"/>
                <a:hlinkClick xmlns:r="http://schemas.openxmlformats.org/officeDocument/2006/relationships" r:id="Rb3d0827ed1bc483e"/>
              </a:rPr>
              <a:t>doi.org/10.1037/0033-2909.132.3.354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Active recall.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Roediger and Karpicke (2006). Test-enhanced learning. Psychological Science.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sz="900" b="0" i="0">
                <a:solidFill>
                  <a:srgbClr val="0070C0"/>
                </a:solidFill>
                <a:latin typeface="Arial"/>
                <a:ea typeface="Arial"/>
                <a:cs typeface="Arial"/>
                <a:hlinkClick xmlns:r="http://schemas.openxmlformats.org/officeDocument/2006/relationships" r:id="R1e1e944457e248c5"/>
              </a:rPr>
              <a:t>doi.org/10.1111/j.1467-9280.2006.01693.x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Forgetting curve.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Ebbinghaus, H. (1885). Memory: A contribution to experimental psychology.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sz="900" b="0" i="0">
                <a:solidFill>
                  <a:srgbClr val="0070C0"/>
                </a:solidFill>
                <a:latin typeface="Arial"/>
                <a:ea typeface="Arial"/>
                <a:cs typeface="Arial"/>
                <a:hlinkClick xmlns:r="http://schemas.openxmlformats.org/officeDocument/2006/relationships" r:id="Rce3d7b036ebe4a80"/>
              </a:rPr>
              <a:t>psychclassics.yorku.ca/Ebbinghaus/index.htm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Policy.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National Education Policy 2020, Ministry of Education, Govt. of India.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sz="900" b="0" i="0">
                <a:solidFill>
                  <a:srgbClr val="0070C0"/>
                </a:solidFill>
                <a:latin typeface="Arial"/>
                <a:ea typeface="Arial"/>
                <a:cs typeface="Arial"/>
                <a:hlinkClick xmlns:r="http://schemas.openxmlformats.org/officeDocument/2006/relationships" r:id="Re00a23088dc94ab4"/>
              </a:rPr>
              <a:t>static.pib.gov.in/WriteReadData/userfiles/NEP_Final_English_0.pdf</a:t>
            </a:r>
          </a:p>
        </p:txBody>
      </p:sp>
      <p:sp>
        <p:nvSpPr>
          <p:cNvPr id="1048856" name="Rounded Rectangle 159">
            <a:extLst xmlns:a="http://schemas.openxmlformats.org/drawingml/2006/main">
              <a:ext uri="{FF2B5EF4-FFF2-40B4-BE49-F238E27FC236}">
                <a16:creationId xmlns:a16="http://schemas.microsoft.com/office/drawing/2014/main" id="{79219569-72C2-4385-9C24-8415F2A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325880"/>
            <a:ext cx="3685032" cy="4846320"/>
          </a:xfrm>
          <a:prstGeom xmlns:a="http://schemas.openxmlformats.org/drawingml/2006/main" prst="roundRect">
            <a:avLst>
              <a:gd name="adj" fmla="val 1488"/>
            </a:avLst>
          </a:prstGeom>
          <a:solidFill xmlns:a="http://schemas.openxmlformats.org/drawingml/2006/main">
            <a:srgbClr val="FDEF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57" name="Oval 160">
            <a:extLst xmlns:a="http://schemas.openxmlformats.org/drawingml/2006/main">
              <a:ext uri="{FF2B5EF4-FFF2-40B4-BE49-F238E27FC236}">
                <a16:creationId xmlns:a16="http://schemas.microsoft.com/office/drawing/2014/main" id="{9AA64FE7-71F3-4102-ADB8-82C858FE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881" name="Picture 1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f58cba38043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529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858" name="TextBox 162">
            <a:extLst xmlns:a="http://schemas.openxmlformats.org/drawingml/2006/main">
              <a:ext uri="{FF2B5EF4-FFF2-40B4-BE49-F238E27FC236}">
                <a16:creationId xmlns:a16="http://schemas.microsoft.com/office/drawing/2014/main" id="{B2C260B9-F254-4ECA-8EA7-04859342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1527048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1048859" name="TextBox 163">
            <a:extLst xmlns:a="http://schemas.openxmlformats.org/drawingml/2006/main">
              <a:ext uri="{FF2B5EF4-FFF2-40B4-BE49-F238E27FC236}">
                <a16:creationId xmlns:a16="http://schemas.microsoft.com/office/drawing/2014/main" id="{CA33FFD8-7D3F-4041-AB04-BAF105C1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039112"/>
            <a:ext cx="3282696" cy="4012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Qwen3.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Alibaba. Open-weight small language models for on-device use.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sz="900" b="0" i="0">
                <a:solidFill>
                  <a:srgbClr val="F47B20"/>
                </a:solidFill>
                <a:latin typeface="Arial"/>
                <a:ea typeface="Arial"/>
                <a:cs typeface="Arial"/>
                <a:hlinkClick xmlns:r="http://schemas.openxmlformats.org/officeDocument/2006/relationships" r:id="R05a854819fb54ace"/>
              </a:rPr>
              <a:t>github.com/QwenLM/Qwen3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llama.cpp.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Quantised LLM inference in C/C++ on CPU.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sz="900" b="0" i="0">
                <a:solidFill>
                  <a:srgbClr val="F47B20"/>
                </a:solidFill>
                <a:latin typeface="Arial"/>
                <a:ea typeface="Arial"/>
                <a:cs typeface="Arial"/>
                <a:hlinkClick xmlns:r="http://schemas.openxmlformats.org/officeDocument/2006/relationships" r:id="R0613f0d2004b4840"/>
              </a:rPr>
              <a:t>github.com/ggml-org/llama.cpp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openWakeWord. Local wake-word detection on the laptop.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sz="900" b="0" i="0">
                <a:solidFill>
                  <a:srgbClr val="F47B20"/>
                </a:solidFill>
                <a:latin typeface="Arial"/>
                <a:ea typeface="Arial"/>
                <a:cs typeface="Arial"/>
                <a:hlinkClick xmlns:r="http://schemas.openxmlformats.org/officeDocument/2006/relationships" r:id="R9abdf76745f54390"/>
              </a:rPr>
              <a:t>github.com/dscripka/openWakeWord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Moonshine.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Useful Sensors. Real-time on-device speech recognition.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sz="900" b="0" i="0">
                <a:solidFill>
                  <a:srgbClr val="F47B20"/>
                </a:solidFill>
                <a:latin typeface="Arial"/>
                <a:ea typeface="Arial"/>
                <a:cs typeface="Arial"/>
                <a:hlinkClick xmlns:r="http://schemas.openxmlformats.org/officeDocument/2006/relationships" r:id="R34034bf7d3a8441b"/>
              </a:rPr>
              <a:t>github.com/usefulsensors/moonshine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OpenCV Zoo.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YuNet face detection and SFace face recognition.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sz="900" b="0" i="0">
                <a:solidFill>
                  <a:srgbClr val="F47B20"/>
                </a:solidFill>
                <a:latin typeface="Arial"/>
                <a:ea typeface="Arial"/>
                <a:cs typeface="Arial"/>
                <a:hlinkClick xmlns:r="http://schemas.openxmlformats.org/officeDocument/2006/relationships" r:id="Rc8fc00191bcf4606"/>
              </a:rPr>
              <a:t>github.com/opencv/opencv_zoo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piper-tts. Local neural TTS used on the laptop.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sz="900" b="0" i="0">
                <a:solidFill>
                  <a:srgbClr val="F47B20"/>
                </a:solidFill>
                <a:latin typeface="Arial"/>
                <a:ea typeface="Arial"/>
                <a:cs typeface="Arial"/>
                <a:hlinkClick xmlns:r="http://schemas.openxmlformats.org/officeDocument/2006/relationships" r:id="R72a112a5dc354dbd"/>
              </a:rPr>
              <a:t>github.com/rhasspy/piper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Raspberry Pi docs.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Camera, GPIO and PWM servo control.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sz="900" b="0" i="0">
                <a:solidFill>
                  <a:srgbClr val="F47B20"/>
                </a:solidFill>
                <a:latin typeface="Arial"/>
                <a:ea typeface="Arial"/>
                <a:cs typeface="Arial"/>
                <a:hlinkClick xmlns:r="http://schemas.openxmlformats.org/officeDocument/2006/relationships" r:id="Rc91ea45827e9417c"/>
              </a:rPr>
              <a:t>raspberrypi.com/documentation</a:t>
            </a:r>
          </a:p>
        </p:txBody>
      </p:sp>
      <p:sp>
        <p:nvSpPr>
          <p:cNvPr id="1048860" name="Rounded Rectangle 164">
            <a:extLst xmlns:a="http://schemas.openxmlformats.org/drawingml/2006/main">
              <a:ext uri="{FF2B5EF4-FFF2-40B4-BE49-F238E27FC236}">
                <a16:creationId xmlns:a16="http://schemas.microsoft.com/office/drawing/2014/main" id="{49B6C214-7395-443C-85A5-790E5180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325880"/>
            <a:ext cx="3685032" cy="4846320"/>
          </a:xfrm>
          <a:prstGeom xmlns:a="http://schemas.openxmlformats.org/drawingml/2006/main" prst="roundRect">
            <a:avLst>
              <a:gd name="adj" fmla="val 1488"/>
            </a:avLst>
          </a:prstGeom>
          <a:solidFill xmlns:a="http://schemas.openxmlformats.org/drawingml/2006/main">
            <a:srgbClr val="E9F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48861" name="Oval 165">
            <a:extLst xmlns:a="http://schemas.openxmlformats.org/drawingml/2006/main">
              <a:ext uri="{FF2B5EF4-FFF2-40B4-BE49-F238E27FC236}">
                <a16:creationId xmlns:a16="http://schemas.microsoft.com/office/drawing/2014/main" id="{68EF6C3C-4310-46EF-96FB-96625AE0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27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48886" name="Picture 1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511141d634b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5779" y="1619219"/>
            <a:ext cx="199704" cy="199704"/>
          </a:xfrm>
          <a:prstGeom xmlns:a="http://schemas.openxmlformats.org/drawingml/2006/main" prst="rect">
            <a:avLst/>
          </a:prstGeom>
        </p:spPr>
      </p:pic>
      <p:sp>
        <p:nvSpPr>
          <p:cNvPr id="1048862" name="TextBox 167">
            <a:extLst xmlns:a="http://schemas.openxmlformats.org/drawingml/2006/main">
              <a:ext uri="{FF2B5EF4-FFF2-40B4-BE49-F238E27FC236}">
                <a16:creationId xmlns:a16="http://schemas.microsoft.com/office/drawing/2014/main" id="{E8754638-3D4C-45A6-82BD-6548A3BC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1527048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Comparable Products</a:t>
            </a:r>
          </a:p>
        </p:txBody>
      </p:sp>
      <p:sp>
        <p:nvSpPr>
          <p:cNvPr id="1048863" name="TextBox 168">
            <a:extLst xmlns:a="http://schemas.openxmlformats.org/drawingml/2006/main">
              <a:ext uri="{FF2B5EF4-FFF2-40B4-BE49-F238E27FC236}">
                <a16:creationId xmlns:a16="http://schemas.microsoft.com/office/drawing/2014/main" id="{91CF846B-87F3-4369-8774-A8FD49DB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39112"/>
            <a:ext cx="3282696" cy="4012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Miko (India).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Companion robot for kids; cloud-dependent, no study workflow or OCR.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sz="900" b="0" i="0">
                <a:solidFill>
                  <a:srgbClr val="2E8B3D"/>
                </a:solidFill>
                <a:latin typeface="Arial"/>
                <a:ea typeface="Arial"/>
                <a:cs typeface="Arial"/>
                <a:hlinkClick xmlns:r="http://schemas.openxmlformats.org/officeDocument/2006/relationships" r:id="Rc834b2fd0951448f"/>
              </a:rPr>
              <a:t>miko.ai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Amazon Echo Show Kids.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Voice-first, no physical expressiveness or study tracking.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sz="900" b="0" i="0">
                <a:solidFill>
                  <a:srgbClr val="2E8B3D"/>
                </a:solidFill>
                <a:latin typeface="Arial"/>
                <a:ea typeface="Arial"/>
                <a:cs typeface="Arial"/>
                <a:hlinkClick xmlns:r="http://schemas.openxmlformats.org/officeDocument/2006/relationships" r:id="R6cdafb339bcf4375"/>
              </a:rPr>
              <a:t>amazon.in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Wonder Workshop Cue.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Coding-focused robot, not a study companion.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sz="900" b="0" i="0">
                <a:solidFill>
                  <a:srgbClr val="2E8B3D"/>
                </a:solidFill>
                <a:latin typeface="Arial"/>
                <a:ea typeface="Arial"/>
                <a:cs typeface="Arial"/>
                <a:hlinkClick xmlns:r="http://schemas.openxmlformats.org/officeDocument/2006/relationships" r:id="Ra3c9f8795eae43fc"/>
              </a:rPr>
              <a:t>makewonder.com</a:t>
            </a:r>
          </a:p>
          <a:p xmlns:a="http://schemas.openxmlformats.org/drawingml/2006/main">
            <a:pPr marL="164592" indent="-164592" algn="l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Emo / Loona desk robots.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Emotive desk pets with no study workflow, OCR or parent view.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sz="900" b="0" i="0">
                <a:solidFill>
                  <a:srgbClr val="2E8B3D"/>
                </a:solidFill>
                <a:latin typeface="Arial"/>
                <a:ea typeface="Arial"/>
                <a:cs typeface="Arial"/>
                <a:hlinkClick xmlns:r="http://schemas.openxmlformats.org/officeDocument/2006/relationships" r:id="Ra6272a64cffa4776"/>
              </a:rPr>
              <a:t>living.ai</a:t>
            </a:r>
          </a:p>
          <a:p xmlns:a="http://schemas.openxmlformats.org/drawingml/2006/main">
            <a:pPr marL="164592" indent="-164592" algn="l">
              <a:spcAft>
                <a:spcPts val="900"/>
              </a:spcAft>
              <a:buClr>
                <a:srgbClr val="2E8B3D"/>
              </a:buClr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  <a:ea typeface="Arial"/>
                <a:cs typeface="Arial"/>
              </a:rPr>
              <a:t>Table Tot differentiators.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offline-first AI, study-specific workflows, parent dashboard, 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laptop-local privacy</a:t>
            </a:r>
            <a:r>
              <a:rPr sz="10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50686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2026-09-07T10:31:39.7770000Z</dcterms:created>
  <dcterms:modified xsi:type="dcterms:W3CDTF">2026-09-07T10:31:39.7770000Z</dcterms:modified>
</coreProperties>
</file>